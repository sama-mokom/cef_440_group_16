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849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>
            <a:off x="10149840" y="6252667"/>
            <a:ext cx="73152" cy="117043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74198" y="6164885"/>
            <a:ext cx="73152" cy="204826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98557" y="6077102"/>
            <a:ext cx="73152" cy="292608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22915" y="5989320"/>
            <a:ext cx="73152" cy="380390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26" name="Shape 24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E2F63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16305E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68580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0" descr="assets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9264" y="832104"/>
            <a:ext cx="667512" cy="66751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2011680" y="7772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AFC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  •  FACULTY OF ENGINEERING AND TECHNOLOGY</a:t>
            </a: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011680" y="10789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Internet &amp; Mobile Programming</a:t>
            </a: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7724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NetInsight</a:t>
            </a:r>
            <a:endParaRPr lang="en-US" sz="8000" dirty="0"/>
          </a:p>
        </p:txBody>
      </p:sp>
      <p:sp>
        <p:nvSpPr>
          <p:cNvPr id="33" name="Text 30"/>
          <p:cNvSpPr/>
          <p:nvPr/>
        </p:nvSpPr>
        <p:spPr>
          <a:xfrm>
            <a:off x="731520" y="3643884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Mobile Network Quality of Service &amp; Experience in Cameroon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1486988" y="543937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 Presentation </a:t>
            </a:r>
          </a:p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</a:t>
            </a:r>
            <a:r>
              <a:rPr lang="en-US" sz="2400" b="1" dirty="0">
                <a:solidFill>
                  <a:schemeClr val="bg1"/>
                </a:solidFill>
              </a:rPr>
              <a:t>Dr. </a:t>
            </a:r>
            <a:r>
              <a:rPr lang="en-US" sz="2400" b="1" dirty="0" err="1">
                <a:solidFill>
                  <a:schemeClr val="bg1"/>
                </a:solidFill>
              </a:rPr>
              <a:t>Nkemeni</a:t>
            </a:r>
            <a:r>
              <a:rPr lang="en-US" sz="2400" b="1" dirty="0">
                <a:solidFill>
                  <a:schemeClr val="bg1"/>
                </a:solidFill>
              </a:rPr>
              <a:t> Valery</a:t>
            </a:r>
            <a:endParaRPr lang="en-CM" sz="2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9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 · INTRODUCTION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Set Out to Solve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network quality in Cameroon is inconsistent — </a:t>
            </a:r>
            <a:r>
              <a:rPr lang="en-US" sz="20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signal, slow speeds and high latency remain common</a:t>
            </a:r>
            <a:r>
              <a:rPr lang="en-US" sz="2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even after heavy MNO investment.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2980212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85292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tell if poor service is their device, location, or the operator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48640" y="3538728"/>
            <a:ext cx="384048" cy="384048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3638580"/>
            <a:ext cx="184343" cy="184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351129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measure raw speed but ignore real user experience (QoE)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48640" y="4197096"/>
            <a:ext cx="384048" cy="384048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4296948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416966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localized, continuous monitoring solution exists for Cameroon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7040880" y="1554480"/>
            <a:ext cx="4572000" cy="4434840"/>
          </a:xfrm>
          <a:prstGeom prst="roundRect">
            <a:avLst>
              <a:gd name="adj" fmla="val 2062"/>
            </a:avLst>
          </a:prstGeom>
          <a:solidFill>
            <a:srgbClr val="12224A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360920" y="1828800"/>
            <a:ext cx="502920" cy="50292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679" y="195955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01000" y="18470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7360920" y="251460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NetInsight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Android app (React Native + Expo) that measures QoS metrics and collects QoE feedback, backed by an Express.js API and MongoDB Atlas.</a:t>
            </a:r>
            <a:endParaRPr lang="en-US" dirty="0"/>
          </a:p>
        </p:txBody>
      </p:sp>
      <p:sp>
        <p:nvSpPr>
          <p:cNvPr id="19" name="Shape 13"/>
          <p:cNvSpPr/>
          <p:nvPr/>
        </p:nvSpPr>
        <p:spPr>
          <a:xfrm>
            <a:off x="7360920" y="4069080"/>
            <a:ext cx="365760" cy="36576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018" y="4164178"/>
            <a:ext cx="175565" cy="17556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863840" y="40507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frontend</a:t>
            </a:r>
            <a:endParaRPr lang="en-US" dirty="0"/>
          </a:p>
        </p:txBody>
      </p:sp>
      <p:sp>
        <p:nvSpPr>
          <p:cNvPr id="22" name="Shape 15"/>
          <p:cNvSpPr/>
          <p:nvPr/>
        </p:nvSpPr>
        <p:spPr>
          <a:xfrm>
            <a:off x="7360920" y="4636008"/>
            <a:ext cx="365760" cy="36576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018" y="4731106"/>
            <a:ext cx="175565" cy="17556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863840" y="46177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REST backend</a:t>
            </a:r>
            <a:endParaRPr lang="en-US" dirty="0"/>
          </a:p>
        </p:txBody>
      </p:sp>
      <p:sp>
        <p:nvSpPr>
          <p:cNvPr id="25" name="Shape 17"/>
          <p:cNvSpPr/>
          <p:nvPr/>
        </p:nvSpPr>
        <p:spPr>
          <a:xfrm>
            <a:off x="7360920" y="5202936"/>
            <a:ext cx="365760" cy="36576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6018" y="5298034"/>
            <a:ext cx="175565" cy="17556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863840" y="51846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cloud database</a:t>
            </a:r>
            <a:endParaRPr lang="en-US" dirty="0"/>
          </a:p>
        </p:txBody>
      </p:sp>
      <p:sp>
        <p:nvSpPr>
          <p:cNvPr id="29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 · INTRODUCTION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222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 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an Android application to monitor and evaluate mobile network QoS and QoE in Cameroon.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990088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0896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60320" y="29352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49808" y="3566160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existing network-monitoring approaches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337560" y="27889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38728" y="2990088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10896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29352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538728" y="3566160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user requirements for quality assessment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6126480" y="27889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27648" y="2990088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10896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38160" y="29352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327648" y="3566160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intuitive monitoring interface</a:t>
            </a: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8915400" y="27889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16568" y="2990088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310896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27080" y="29352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9116568" y="3566160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frontend with React Native &amp; Expo</a:t>
            </a:r>
            <a:endParaRPr lang="en-US" dirty="0"/>
          </a:p>
        </p:txBody>
      </p:sp>
      <p:sp>
        <p:nvSpPr>
          <p:cNvPr id="26" name="Shape 20"/>
          <p:cNvSpPr/>
          <p:nvPr/>
        </p:nvSpPr>
        <p:spPr>
          <a:xfrm>
            <a:off x="548640" y="46177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49808" y="4818888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93776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560320" y="47640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749808" y="5394960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backend with Express.js</a:t>
            </a:r>
            <a:endParaRPr lang="en-US" dirty="0"/>
          </a:p>
        </p:txBody>
      </p:sp>
      <p:sp>
        <p:nvSpPr>
          <p:cNvPr id="31" name="Shape 24"/>
          <p:cNvSpPr/>
          <p:nvPr/>
        </p:nvSpPr>
        <p:spPr>
          <a:xfrm>
            <a:off x="3337560" y="46177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538728" y="4818888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4937760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49240" y="47640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5" name="Text 27"/>
          <p:cNvSpPr/>
          <p:nvPr/>
        </p:nvSpPr>
        <p:spPr>
          <a:xfrm>
            <a:off x="3538728" y="5394960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MongoDB Atlas database</a:t>
            </a:r>
            <a:endParaRPr lang="en-US" dirty="0"/>
          </a:p>
        </p:txBody>
      </p:sp>
      <p:sp>
        <p:nvSpPr>
          <p:cNvPr id="36" name="Shape 28"/>
          <p:cNvSpPr/>
          <p:nvPr/>
        </p:nvSpPr>
        <p:spPr>
          <a:xfrm>
            <a:off x="6126480" y="46177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327648" y="4818888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937760"/>
            <a:ext cx="219456" cy="21945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138160" y="47640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40" name="Text 31"/>
          <p:cNvSpPr/>
          <p:nvPr/>
        </p:nvSpPr>
        <p:spPr>
          <a:xfrm>
            <a:off x="6327648" y="5394960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frontend, backend &amp; database</a:t>
            </a:r>
            <a:endParaRPr lang="en-US" dirty="0"/>
          </a:p>
        </p:txBody>
      </p:sp>
      <p:sp>
        <p:nvSpPr>
          <p:cNvPr id="41" name="Shape 32"/>
          <p:cNvSpPr/>
          <p:nvPr/>
        </p:nvSpPr>
        <p:spPr>
          <a:xfrm>
            <a:off x="8915400" y="461772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116568" y="4818888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0" y="4937760"/>
            <a:ext cx="219456" cy="21945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0927080" y="47640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7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45" name="Text 35"/>
          <p:cNvSpPr/>
          <p:nvPr/>
        </p:nvSpPr>
        <p:spPr>
          <a:xfrm>
            <a:off x="9116568" y="5394960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app's monitoring capability</a:t>
            </a:r>
            <a:endParaRPr lang="en-US" dirty="0"/>
          </a:p>
        </p:txBody>
      </p:sp>
      <p:sp>
        <p:nvSpPr>
          <p:cNvPr id="47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 · INTRODUCTION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AF9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0E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476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7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2000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built with React Native &amp; Expo and iOS Version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2000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of selected network performance metrics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2000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of data in MongoDB Atlas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2000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development with Express.js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sz="2000" dirty="0">
                <a:solidFill>
                  <a:srgbClr val="13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UI for viewing network information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5F0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28800"/>
            <a:ext cx="457200" cy="457200"/>
          </a:xfrm>
          <a:prstGeom prst="ellipse">
            <a:avLst/>
          </a:prstGeom>
          <a:solidFill>
            <a:srgbClr val="7A3B6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19476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47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2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✕"/>
            </a:pPr>
            <a:r>
              <a:rPr lang="en-US" sz="2000" dirty="0">
                <a:solidFill>
                  <a:srgbClr val="4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MNO internal infrastructure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✕"/>
            </a:pPr>
            <a:r>
              <a:rPr lang="en-US" sz="2000" dirty="0">
                <a:solidFill>
                  <a:srgbClr val="4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nationwide network optimisation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✕"/>
            </a:pPr>
            <a:r>
              <a:rPr lang="en-US" sz="2000" dirty="0">
                <a:solidFill>
                  <a:srgbClr val="4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models for network analysis</a:t>
            </a:r>
            <a:endParaRPr lang="en-US" sz="2000" dirty="0"/>
          </a:p>
          <a:p>
            <a:pPr marL="342900" indent="-342900">
              <a:lnSpc>
                <a:spcPct val="135000"/>
              </a:lnSpc>
              <a:buSzPct val="100000"/>
              <a:buChar char="✕"/>
            </a:pPr>
            <a:r>
              <a:rPr lang="en-US" sz="2000" dirty="0">
                <a:solidFill>
                  <a:srgbClr val="4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modification of network performance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TWO · LITERATURE REVIEW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of Service vs. Quality of Experience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12224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28800"/>
            <a:ext cx="502920" cy="50292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7" y="1959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470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QoS — measurable network performance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— round-trip packet delay (ms)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— data transferred per second (Mbps)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loss — data that fails to arrive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— variation in packet arrival time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strength — device-to-tower link quality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1828800"/>
            <a:ext cx="502920" cy="50292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287" y="19595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470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QoE — the user's perceived experience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37960" y="260604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loading speed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streaming quality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 clarity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of connectivity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connection drops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satisfaction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NetInsight combines both: objective QoS measurement + subjective QoE feedback.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TWO · LITERATURE REVIEW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Apps &amp; the Gap NetInsight Fills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E8EE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Speedtest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popular benchmarking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monitoring or QoE feedback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06240" y="169164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E8EEF9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8745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nPerf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34840" y="237744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technical metrics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34840" y="33832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localisation &amp; historical insight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863840" y="1691640"/>
            <a:ext cx="3429000" cy="2880360"/>
          </a:xfrm>
          <a:prstGeom prst="roundRect">
            <a:avLst>
              <a:gd name="adj" fmla="val 2857"/>
            </a:avLst>
          </a:prstGeom>
          <a:solidFill>
            <a:srgbClr val="E8EEF9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187452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OpenSignal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92440" y="237744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mapping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92440" y="33832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integration of user-reported experience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222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19379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63040" y="4846320"/>
            <a:ext cx="9966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combine QoS measurement + QoE feedback + centralised historical storage, tailored to Cameroon — this is NetInsight's gap.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THREE · REQUIREMENT GATHERING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Our Stakeholders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64792"/>
            <a:ext cx="384048" cy="384048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84" y="1864644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12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Network Users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46120" y="16002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10712" y="1764792"/>
            <a:ext cx="384048" cy="384048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564" y="1864644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212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Network Operators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851660" y="2775335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016252" y="2939927"/>
            <a:ext cx="384048" cy="384048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6104" y="3039779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88820" y="3387983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Administrator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415528" y="1794663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580120" y="1959255"/>
            <a:ext cx="384048" cy="384048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9972" y="2059107"/>
            <a:ext cx="184343" cy="184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52688" y="2407311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30352" y="395047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used: surveys, brainstorming, reverse engineering, and document analysis.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530352" y="4590550"/>
            <a:ext cx="365760" cy="36576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50" y="4685648"/>
            <a:ext cx="175565" cy="17556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5840" y="457226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</a:t>
            </a: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530352" y="5120902"/>
            <a:ext cx="365760" cy="36576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50" y="5216000"/>
            <a:ext cx="175565" cy="17556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05840" y="510261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dirty="0"/>
          </a:p>
        </p:txBody>
      </p:sp>
      <p:sp>
        <p:nvSpPr>
          <p:cNvPr id="27" name="Shape 19"/>
          <p:cNvSpPr/>
          <p:nvPr/>
        </p:nvSpPr>
        <p:spPr>
          <a:xfrm>
            <a:off x="530352" y="5651254"/>
            <a:ext cx="365760" cy="36576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50" y="5746352"/>
            <a:ext cx="175565" cy="17556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05840" y="563296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dirty="0"/>
          </a:p>
        </p:txBody>
      </p:sp>
      <p:sp>
        <p:nvSpPr>
          <p:cNvPr id="30" name="Shape 21"/>
          <p:cNvSpPr/>
          <p:nvPr/>
        </p:nvSpPr>
        <p:spPr>
          <a:xfrm>
            <a:off x="530352" y="6181606"/>
            <a:ext cx="365760" cy="36576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450" y="6276704"/>
            <a:ext cx="175565" cy="17556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005840" y="616331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Analysis</a:t>
            </a:r>
            <a:endParaRPr lang="en-US" dirty="0"/>
          </a:p>
        </p:txBody>
      </p:sp>
      <p:sp>
        <p:nvSpPr>
          <p:cNvPr id="33" name="Shape 23"/>
          <p:cNvSpPr/>
          <p:nvPr/>
        </p:nvSpPr>
        <p:spPr>
          <a:xfrm>
            <a:off x="6266688" y="1794663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4" name="Text 24"/>
          <p:cNvSpPr/>
          <p:nvPr/>
        </p:nvSpPr>
        <p:spPr>
          <a:xfrm>
            <a:off x="6541008" y="1931823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Findings</a:t>
            </a:r>
            <a:endParaRPr lang="en-US" dirty="0"/>
          </a:p>
        </p:txBody>
      </p:sp>
      <p:pic>
        <p:nvPicPr>
          <p:cNvPr id="35" name="Image 8" descr="assets/req_chart1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41008" y="2343303"/>
            <a:ext cx="4572000" cy="370332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1080351" y="6474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FOUR · REQUIREMENT ANALYSIS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12224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476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47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download / upload speed &amp; latency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current network &amp; signal information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retrieve historical test results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sync data via RESTful APIs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dashboards &amp; prompt user feedback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E8EEF9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828800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19476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847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629400" y="25146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fast responses, low delay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— consistent, available data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secure auth &amp; communication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— simple, consistent navigation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▸"/>
            </a:pPr>
            <a:r>
              <a:rPr lang="en-US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&amp; Scalability — modular design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FOUR · REQUIREMENT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Prioritising with MoSCoW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4434840"/>
          </a:xfrm>
          <a:prstGeom prst="roundRect">
            <a:avLst>
              <a:gd name="adj" fmla="val 3051"/>
            </a:avLst>
          </a:prstGeom>
          <a:solidFill>
            <a:srgbClr val="EAF9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0E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2295144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consumption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battery impact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approximate location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in 'no signal' scenarios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97480" cy="4434840"/>
          </a:xfrm>
          <a:prstGeom prst="roundRect">
            <a:avLst>
              <a:gd name="adj" fmla="val 3051"/>
            </a:avLst>
          </a:prstGeom>
          <a:solidFill>
            <a:srgbClr val="E9F0FB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182880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2A5CA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84448" y="2468880"/>
            <a:ext cx="2295144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network statistics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visualisation of history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error handling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697480" cy="4434840"/>
          </a:xfrm>
          <a:prstGeom prst="roundRect">
            <a:avLst>
              <a:gd name="adj" fmla="val 3051"/>
            </a:avLst>
          </a:prstGeom>
          <a:solidFill>
            <a:srgbClr val="FBF3E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182880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B8862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19088" y="2468880"/>
            <a:ext cx="2295144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reports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comparison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52560" y="1645920"/>
            <a:ext cx="2697480" cy="4434840"/>
          </a:xfrm>
          <a:prstGeom prst="roundRect">
            <a:avLst>
              <a:gd name="adj" fmla="val 3051"/>
            </a:avLst>
          </a:prstGeom>
          <a:solidFill>
            <a:srgbClr val="FBEBEE"/>
          </a:solidFill>
          <a:ln/>
        </p:spPr>
      </p:sp>
      <p:sp>
        <p:nvSpPr>
          <p:cNvPr id="17" name="Shape 15"/>
          <p:cNvSpPr/>
          <p:nvPr/>
        </p:nvSpPr>
        <p:spPr>
          <a:xfrm>
            <a:off x="9235440" y="182880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8A3B49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8288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Have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53728" y="2468880"/>
            <a:ext cx="2295144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network prediction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MNO integration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network optimisation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sync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coverage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DESIGN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System Architecture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463040" y="1691640"/>
            <a:ext cx="9235440" cy="1051560"/>
          </a:xfrm>
          <a:prstGeom prst="roundRect">
            <a:avLst>
              <a:gd name="adj" fmla="val 7826"/>
            </a:avLst>
          </a:prstGeom>
          <a:solidFill>
            <a:srgbClr val="12224A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1874520"/>
            <a:ext cx="685800" cy="68580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948" y="20528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80136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60604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Android app — the graphical interface users interact with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989320" y="2752344"/>
            <a:ext cx="182880" cy="182880"/>
          </a:xfrm>
          <a:prstGeom prst="ellipse">
            <a:avLst/>
          </a:prstGeom>
          <a:solidFill>
            <a:srgbClr val="12224A"/>
          </a:solidFill>
          <a:ln w="19050">
            <a:solidFill>
              <a:srgbClr val="00C2D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63040" y="3017520"/>
            <a:ext cx="9235440" cy="1051560"/>
          </a:xfrm>
          <a:prstGeom prst="roundRect">
            <a:avLst>
              <a:gd name="adj" fmla="val 7826"/>
            </a:avLst>
          </a:prstGeom>
          <a:solidFill>
            <a:srgbClr val="1E2F63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91640" y="3200400"/>
            <a:ext cx="685800" cy="68580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948" y="33787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312724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606040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backend — business logic, validation, and REST API endpoints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5989320" y="4078224"/>
            <a:ext cx="182880" cy="182880"/>
          </a:xfrm>
          <a:prstGeom prst="ellipse">
            <a:avLst/>
          </a:prstGeom>
          <a:solidFill>
            <a:srgbClr val="12224A"/>
          </a:solidFill>
          <a:ln w="19050">
            <a:solidFill>
              <a:srgbClr val="00C2D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463040" y="4343400"/>
            <a:ext cx="9235440" cy="1051560"/>
          </a:xfrm>
          <a:prstGeom prst="roundRect">
            <a:avLst>
              <a:gd name="adj" fmla="val 7826"/>
            </a:avLst>
          </a:prstGeom>
          <a:solidFill>
            <a:srgbClr val="12224A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691640" y="4526280"/>
            <a:ext cx="685800" cy="68580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9948" y="470458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06040" y="44531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2606040" y="4846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cloud NoSQL database storing metrics &amp; feedback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1463040" y="580644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5B6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layers communicate via RESTful APIs (HTTPS), keeping responsibilities cleanly separated.</a:t>
            </a: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11274551" y="6473952"/>
            <a:ext cx="7323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FIVE · SYSTEM DESIGN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System Behaviour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phase modelled NetInsight through Context, DFD, Use Case, Sequence, Class and Deployment diagrams.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12935" y="3159034"/>
            <a:ext cx="384048" cy="384048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87" y="3258886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855" y="314074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 &amp; external actors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12935" y="3872266"/>
            <a:ext cx="384048" cy="384048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87" y="3972118"/>
            <a:ext cx="184343" cy="184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5855" y="385397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Diagrams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through the app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512935" y="4585498"/>
            <a:ext cx="384048" cy="384048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787" y="4685350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15855" y="456721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interactions, shown right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512935" y="5298730"/>
            <a:ext cx="384048" cy="384048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787" y="5398582"/>
            <a:ext cx="184343" cy="184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15855" y="528044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Deployment Diagrams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hosting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5049707" y="1371600"/>
            <a:ext cx="6797040" cy="479189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5278306" y="1508760"/>
            <a:ext cx="4961343" cy="383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000" dirty="0"/>
          </a:p>
        </p:txBody>
      </p:sp>
      <p:pic>
        <p:nvPicPr>
          <p:cNvPr id="19" name="Image 4" descr="assets/usecas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78307" y="1920241"/>
            <a:ext cx="6300906" cy="421714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29299" y="6291072"/>
            <a:ext cx="827272" cy="287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SEVEN · DATABASE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Atlas &amp; Core Collections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2103120"/>
          </a:xfrm>
          <a:prstGeom prst="roundRect">
            <a:avLst>
              <a:gd name="adj" fmla="val 3913"/>
            </a:avLst>
          </a:prstGeom>
          <a:solidFill>
            <a:srgbClr val="12224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10512"/>
            <a:ext cx="411480" cy="41148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5" y="1917497"/>
            <a:ext cx="197510" cy="1975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288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Metric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type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/ upload speed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49568" y="1252728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schemas enforce validation; Express.js exposes REST endpoints (GET/POST/PUT/DELETE) that connect the frontend to these collections.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042660" y="2354928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E8EEF9"/>
          </a:solidFill>
          <a:ln/>
        </p:spPr>
      </p:sp>
      <p:pic>
        <p:nvPicPr>
          <p:cNvPr id="17" name="Image 2" descr="assets/mongo_atla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71260" y="2903568"/>
            <a:ext cx="5120640" cy="3749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89219" y="6454793"/>
            <a:ext cx="7106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000" dirty="0"/>
          </a:p>
        </p:txBody>
      </p:sp>
      <p:sp>
        <p:nvSpPr>
          <p:cNvPr id="20" name="Shape 6"/>
          <p:cNvSpPr/>
          <p:nvPr/>
        </p:nvSpPr>
        <p:spPr>
          <a:xfrm>
            <a:off x="525780" y="4123944"/>
            <a:ext cx="5074920" cy="2103120"/>
          </a:xfrm>
          <a:prstGeom prst="roundRect">
            <a:avLst>
              <a:gd name="adj" fmla="val 3913"/>
            </a:avLst>
          </a:prstGeom>
          <a:solidFill>
            <a:srgbClr val="12224A"/>
          </a:solidFill>
          <a:ln/>
        </p:spPr>
      </p:sp>
      <p:sp>
        <p:nvSpPr>
          <p:cNvPr id="21" name="Shape 7"/>
          <p:cNvSpPr/>
          <p:nvPr/>
        </p:nvSpPr>
        <p:spPr>
          <a:xfrm>
            <a:off x="754380" y="4334256"/>
            <a:ext cx="411480" cy="41148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5" y="4441241"/>
            <a:ext cx="197510" cy="197510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1303020" y="435254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Feedback</a:t>
            </a:r>
            <a:endParaRPr lang="en-US" dirty="0"/>
          </a:p>
        </p:txBody>
      </p:sp>
      <p:sp>
        <p:nvSpPr>
          <p:cNvPr id="24" name="Text 9"/>
          <p:cNvSpPr/>
          <p:nvPr/>
        </p:nvSpPr>
        <p:spPr>
          <a:xfrm>
            <a:off x="800100" y="4855464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feedback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E5A5D0-6C03-80C2-6BFF-88BB66EA1B41}"/>
              </a:ext>
            </a:extLst>
          </p:cNvPr>
          <p:cNvSpPr txBox="1"/>
          <p:nvPr/>
        </p:nvSpPr>
        <p:spPr>
          <a:xfrm>
            <a:off x="7168243" y="2473365"/>
            <a:ext cx="3265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Mongo Atlas Live collections</a:t>
            </a:r>
            <a:endParaRPr lang="en-CM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SIX · UI/UX DESIGN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Figma to a Working App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assets/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" y="1810512"/>
            <a:ext cx="539496" cy="539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830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NetInsight </a:t>
            </a:r>
            <a:r>
              <a:rPr lang="en-US" sz="20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Network + Insight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94360" y="2606040"/>
            <a:ext cx="365760" cy="36576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2701138"/>
            <a:ext cx="175565" cy="1755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58775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blue — trust, reliability &amp; technology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94360" y="3227832"/>
            <a:ext cx="365760" cy="36576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3322930"/>
            <a:ext cx="175565" cy="1755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2095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/ light-grey — clean readability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594360" y="3849624"/>
            <a:ext cx="365760" cy="36576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3944722"/>
            <a:ext cx="175565" cy="17556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83133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sans-serif typography throughout</a:t>
            </a:r>
            <a:endParaRPr lang="en-US" dirty="0"/>
          </a:p>
        </p:txBody>
      </p:sp>
      <p:sp>
        <p:nvSpPr>
          <p:cNvPr id="16" name="Shape 10"/>
          <p:cNvSpPr/>
          <p:nvPr/>
        </p:nvSpPr>
        <p:spPr>
          <a:xfrm>
            <a:off x="594360" y="4471416"/>
            <a:ext cx="365760" cy="36576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4566514"/>
            <a:ext cx="175565" cy="1755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445312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Figma before implementation</a:t>
            </a:r>
            <a:endParaRPr lang="en-US" dirty="0"/>
          </a:p>
        </p:txBody>
      </p:sp>
      <p:sp>
        <p:nvSpPr>
          <p:cNvPr id="19" name="Shape 12"/>
          <p:cNvSpPr/>
          <p:nvPr/>
        </p:nvSpPr>
        <p:spPr>
          <a:xfrm>
            <a:off x="5852160" y="1417320"/>
            <a:ext cx="1874520" cy="46177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3"/>
          <p:cNvSpPr/>
          <p:nvPr/>
        </p:nvSpPr>
        <p:spPr>
          <a:xfrm>
            <a:off x="5852160" y="5715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7909560" y="1417320"/>
            <a:ext cx="1874520" cy="46177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15"/>
          <p:cNvSpPr/>
          <p:nvPr/>
        </p:nvSpPr>
        <p:spPr>
          <a:xfrm>
            <a:off x="7909560" y="5715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Screen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9966960" y="1417320"/>
            <a:ext cx="1874520" cy="46177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17"/>
          <p:cNvSpPr/>
          <p:nvPr/>
        </p:nvSpPr>
        <p:spPr>
          <a:xfrm>
            <a:off x="9966960" y="5715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Screen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11274552" y="6473952"/>
            <a:ext cx="688848" cy="188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8D38FEB-D5FC-D8BC-CB68-0D31D29883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160" y="1524698"/>
            <a:ext cx="1906356" cy="4128643"/>
          </a:xfrm>
          <a:prstGeom prst="rect">
            <a:avLst/>
          </a:prstGeom>
          <a:noFill/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F79459B-F21E-9F90-5FA8-A59138E415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5124" y="1474797"/>
            <a:ext cx="1971474" cy="426676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20E00D2-D6F5-DE59-C16B-A17A82E048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4046" y="1432778"/>
            <a:ext cx="1971474" cy="42667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F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EIGHT · TESTING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the Application Works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components tested independently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0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C2D1"/>
                </a:solidFill>
              </a:rPr>
              <a:t>→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3456432" y="169164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85032" y="1920240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0391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2514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Testing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685032" y="301752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between modules verified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108192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C2D1"/>
                </a:solidFill>
              </a:rPr>
              <a:t>→</a:t>
            </a:r>
            <a:endParaRPr lang="en-US" sz="3200" dirty="0"/>
          </a:p>
        </p:txBody>
      </p:sp>
      <p:sp>
        <p:nvSpPr>
          <p:cNvPr id="16" name="Shape 12"/>
          <p:cNvSpPr/>
          <p:nvPr/>
        </p:nvSpPr>
        <p:spPr>
          <a:xfrm>
            <a:off x="6364224" y="169164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92824" y="1920240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203911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92824" y="2514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Testing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592824" y="301752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application tested as one integrated system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015984" y="2651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C2D1"/>
                </a:solidFill>
              </a:rPr>
              <a:t>→</a:t>
            </a:r>
            <a:endParaRPr lang="en-US" sz="3200" dirty="0"/>
          </a:p>
        </p:txBody>
      </p:sp>
      <p:sp>
        <p:nvSpPr>
          <p:cNvPr id="22" name="Shape 17"/>
          <p:cNvSpPr/>
          <p:nvPr/>
        </p:nvSpPr>
        <p:spPr>
          <a:xfrm>
            <a:off x="9272016" y="1691640"/>
            <a:ext cx="26517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500616" y="1920240"/>
            <a:ext cx="457200" cy="457200"/>
          </a:xfrm>
          <a:prstGeom prst="ellipse">
            <a:avLst/>
          </a:prstGeom>
          <a:solidFill>
            <a:srgbClr val="1E2F63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9488" y="203911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00616" y="2514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Validation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9500616" y="301752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interaction confirms usability &amp; correctness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2224A"/>
          </a:solidFill>
          <a:ln/>
        </p:spPr>
      </p:sp>
      <p:sp>
        <p:nvSpPr>
          <p:cNvPr id="28" name="Shape 22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24397A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4782312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4630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Environment</a:t>
            </a: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1463040" y="498348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device / emulator  ·  Expo runtime  ·  Node.js  ·  Express.js server  ·  MongoDB Atlas  ·  stable internet connection</a:t>
            </a: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11274552" y="6473952"/>
            <a:ext cx="649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5469"/>
            <a:ext cx="64008" cy="102413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3" name="Shape 1"/>
          <p:cNvSpPr/>
          <p:nvPr/>
        </p:nvSpPr>
        <p:spPr>
          <a:xfrm>
            <a:off x="657454" y="6188659"/>
            <a:ext cx="64008" cy="17922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4" name="Shape 2"/>
          <p:cNvSpPr/>
          <p:nvPr/>
        </p:nvSpPr>
        <p:spPr>
          <a:xfrm>
            <a:off x="766267" y="6111850"/>
            <a:ext cx="64008" cy="25603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5" name="Shape 3"/>
          <p:cNvSpPr/>
          <p:nvPr/>
        </p:nvSpPr>
        <p:spPr>
          <a:xfrm>
            <a:off x="875081" y="6035040"/>
            <a:ext cx="64008" cy="33284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6265469"/>
            <a:ext cx="64008" cy="102413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7" name="Shape 5"/>
          <p:cNvSpPr/>
          <p:nvPr/>
        </p:nvSpPr>
        <p:spPr>
          <a:xfrm>
            <a:off x="2852014" y="6188659"/>
            <a:ext cx="64008" cy="17922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8" name="Shape 6"/>
          <p:cNvSpPr/>
          <p:nvPr/>
        </p:nvSpPr>
        <p:spPr>
          <a:xfrm>
            <a:off x="2960827" y="6111850"/>
            <a:ext cx="64008" cy="25603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9" name="Shape 7"/>
          <p:cNvSpPr/>
          <p:nvPr/>
        </p:nvSpPr>
        <p:spPr>
          <a:xfrm>
            <a:off x="3069641" y="6035040"/>
            <a:ext cx="64008" cy="33284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6265469"/>
            <a:ext cx="64008" cy="102413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11" name="Shape 9"/>
          <p:cNvSpPr/>
          <p:nvPr/>
        </p:nvSpPr>
        <p:spPr>
          <a:xfrm>
            <a:off x="5046574" y="6188659"/>
            <a:ext cx="64008" cy="17922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5155387" y="6111850"/>
            <a:ext cx="64008" cy="25603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5264201" y="6035040"/>
            <a:ext cx="64008" cy="33284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6265469"/>
            <a:ext cx="64008" cy="102413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7241134" y="6188659"/>
            <a:ext cx="64008" cy="17922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7349947" y="6111850"/>
            <a:ext cx="64008" cy="25603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7458761" y="6035040"/>
            <a:ext cx="64008" cy="33284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9326880" y="6265469"/>
            <a:ext cx="64008" cy="102413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9435694" y="6188659"/>
            <a:ext cx="64008" cy="17922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9544507" y="6111850"/>
            <a:ext cx="64008" cy="25603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9653321" y="6035040"/>
            <a:ext cx="64008" cy="332842"/>
          </a:xfrm>
          <a:prstGeom prst="rect">
            <a:avLst/>
          </a:prstGeom>
          <a:solidFill>
            <a:srgbClr val="1E2F6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0352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 &amp; What's Next</a:t>
            </a:r>
            <a:endParaRPr lang="en-US" sz="4000" dirty="0"/>
          </a:p>
        </p:txBody>
      </p:sp>
      <p:sp>
        <p:nvSpPr>
          <p:cNvPr id="24" name="Shape 22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E2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0E2050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39112"/>
            <a:ext cx="219456" cy="21945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63040" y="19476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68680" y="25146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React Native + Expo Android app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REST API integrated with MongoDB Atlas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metrics measured alongside QoE feedback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✓"/>
            </a:pPr>
            <a:r>
              <a:rPr lang="en-US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traced from gathering to testing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6217920" y="16916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E2F63"/>
          </a:solidFill>
          <a:ln/>
        </p:spPr>
      </p:sp>
      <p:sp>
        <p:nvSpPr>
          <p:cNvPr id="30" name="Shape 27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0E2050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039112"/>
            <a:ext cx="219456" cy="219456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132320" y="19476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6537960" y="25146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→"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operator comparison</a:t>
            </a:r>
          </a:p>
          <a:p>
            <a:pPr marL="342900" indent="-342900">
              <a:lnSpc>
                <a:spcPct val="135000"/>
              </a:lnSpc>
              <a:buSzPct val="100000"/>
              <a:buChar char="→"/>
            </a:pPr>
            <a:r>
              <a:rPr lang="en-CM" b="1" dirty="0">
                <a:solidFill>
                  <a:schemeClr val="bg1"/>
                </a:solidFill>
              </a:rPr>
              <a:t>AI-based network prediction</a:t>
            </a:r>
            <a:r>
              <a:rPr lang="fr-FR" b="1" dirty="0">
                <a:solidFill>
                  <a:schemeClr val="bg1"/>
                </a:solidFill>
              </a:rPr>
              <a:t>: </a:t>
            </a:r>
            <a:r>
              <a:rPr lang="en-CM" dirty="0">
                <a:solidFill>
                  <a:schemeClr val="bg1"/>
                </a:solidFill>
              </a:rPr>
              <a:t>forecast poor-coverage times/areas from historical data</a:t>
            </a:r>
            <a:endParaRPr lang="fr-FR" dirty="0">
              <a:solidFill>
                <a:schemeClr val="bg1"/>
              </a:solidFill>
            </a:endParaRPr>
          </a:p>
          <a:p>
            <a:pPr marL="342900" indent="-342900">
              <a:lnSpc>
                <a:spcPct val="135000"/>
              </a:lnSpc>
              <a:buSzPct val="100000"/>
              <a:buChar char="→"/>
            </a:pPr>
            <a:r>
              <a:rPr lang="en-CM" b="1" dirty="0">
                <a:solidFill>
                  <a:schemeClr val="bg1"/>
                </a:solidFill>
              </a:rPr>
              <a:t>Push notifications</a:t>
            </a:r>
            <a:r>
              <a:rPr lang="en-CM" dirty="0">
                <a:solidFill>
                  <a:schemeClr val="bg1"/>
                </a:solidFill>
              </a:rPr>
              <a:t> — alert users to sudden network degradation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Text 31"/>
          <p:cNvSpPr/>
          <p:nvPr/>
        </p:nvSpPr>
        <p:spPr>
          <a:xfrm>
            <a:off x="11274552" y="6473952"/>
            <a:ext cx="7759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1038</Words>
  <Application>Microsoft Office PowerPoint</Application>
  <PresentationFormat>Widescreen</PresentationFormat>
  <Paragraphs>237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NetInsight - Final Implementation</dc:title>
  <dc:subject>PptxGenJS Presentation</dc:subject>
  <dc:creator>Willyherman</dc:creator>
  <cp:lastModifiedBy>HP</cp:lastModifiedBy>
  <cp:revision>5</cp:revision>
  <dcterms:created xsi:type="dcterms:W3CDTF">2026-07-04T09:50:46Z</dcterms:created>
  <dcterms:modified xsi:type="dcterms:W3CDTF">2026-07-04T10:48:42Z</dcterms:modified>
</cp:coreProperties>
</file>