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4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72" r:id="rId15"/>
    <p:sldId id="273" r:id="rId16"/>
    <p:sldId id="268" r:id="rId17"/>
    <p:sldId id="269" r:id="rId18"/>
    <p:sldId id="270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923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BUEA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38893"/>
            <a:ext cx="84124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Engineering and Technology 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CEF440 - </a:t>
            </a:r>
            <a:r>
              <a:rPr lang="en-US" sz="2000" dirty="0">
                <a:solidFill>
                  <a:schemeClr val="bg1"/>
                </a:solidFill>
              </a:rPr>
              <a:t>INTERNET PROGRAMMING AND MOBILE PROGRAMMING </a:t>
            </a:r>
          </a:p>
        </p:txBody>
      </p:sp>
      <p:sp>
        <p:nvSpPr>
          <p:cNvPr id="8" name="Text 6"/>
          <p:cNvSpPr/>
          <p:nvPr/>
        </p:nvSpPr>
        <p:spPr>
          <a:xfrm>
            <a:off x="586849" y="1647553"/>
            <a:ext cx="804345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REQUIREMENTS</a:t>
            </a:r>
            <a:endParaRPr lang="en-US" sz="5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6576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16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4663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Instructor: Dr. Nkemeni Valery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5FBA5A4-11B1-7A9C-9D96-30D50FEF46A1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5A11AAA-DAE7-44DE-4324-9FA6BD51F205}"/>
              </a:ext>
            </a:extLst>
          </p:cNvPr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69C55720-9126-52C1-7224-77AC9C60C5E1}"/>
              </a:ext>
            </a:extLst>
          </p:cNvPr>
          <p:cNvSpPr/>
          <p:nvPr/>
        </p:nvSpPr>
        <p:spPr>
          <a:xfrm>
            <a:off x="411480" y="897636"/>
            <a:ext cx="4160520" cy="2926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D74BBD85-03B5-98E5-0F86-A22F97A89D15}"/>
              </a:ext>
            </a:extLst>
          </p:cNvPr>
          <p:cNvSpPr/>
          <p:nvPr/>
        </p:nvSpPr>
        <p:spPr>
          <a:xfrm>
            <a:off x="502920" y="89763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Covered In This Phase</a:t>
            </a:r>
            <a:endParaRPr lang="en-US" sz="1200" dirty="0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2E4FD7CF-8302-CD3A-1F81-5EA8D782DE9E}"/>
              </a:ext>
            </a:extLst>
          </p:cNvPr>
          <p:cNvSpPr/>
          <p:nvPr/>
        </p:nvSpPr>
        <p:spPr>
          <a:xfrm>
            <a:off x="411480" y="1281684"/>
            <a:ext cx="4160520" cy="576072"/>
          </a:xfrm>
          <a:prstGeom prst="rect">
            <a:avLst/>
          </a:prstGeom>
          <a:solidFill>
            <a:srgbClr val="F0F8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6A6AE4DB-3C8C-947E-D4AA-07DE6C50780B}"/>
              </a:ext>
            </a:extLst>
          </p:cNvPr>
          <p:cNvSpPr/>
          <p:nvPr/>
        </p:nvSpPr>
        <p:spPr>
          <a:xfrm>
            <a:off x="466344" y="1391412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4BCEADA1-1841-5D9A-6C81-6FE1EC38C3E8}"/>
              </a:ext>
            </a:extLst>
          </p:cNvPr>
          <p:cNvSpPr/>
          <p:nvPr/>
        </p:nvSpPr>
        <p:spPr>
          <a:xfrm>
            <a:off x="466344" y="13914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78099635-0191-3448-48CB-18E8884D7A15}"/>
              </a:ext>
            </a:extLst>
          </p:cNvPr>
          <p:cNvSpPr/>
          <p:nvPr/>
        </p:nvSpPr>
        <p:spPr>
          <a:xfrm>
            <a:off x="960120" y="1327404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Analyse Requirements</a:t>
            </a:r>
            <a:endParaRPr lang="en-US" sz="16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8D88C4E3-49D7-D825-56DF-57CC01A18A2C}"/>
              </a:ext>
            </a:extLst>
          </p:cNvPr>
          <p:cNvSpPr/>
          <p:nvPr/>
        </p:nvSpPr>
        <p:spPr>
          <a:xfrm>
            <a:off x="960120" y="15834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Survey of 190 respondents — completeness, clarity, feasibility, dependencies, inconsistencies &amp; ambiguities.</a:t>
            </a:r>
            <a:endParaRPr lang="en-US" sz="110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7374F80C-0129-A34D-FD4E-6F30AE978AF4}"/>
              </a:ext>
            </a:extLst>
          </p:cNvPr>
          <p:cNvSpPr/>
          <p:nvPr/>
        </p:nvSpPr>
        <p:spPr>
          <a:xfrm>
            <a:off x="411480" y="1940052"/>
            <a:ext cx="4160520" cy="576072"/>
          </a:xfrm>
          <a:prstGeom prst="rect">
            <a:avLst/>
          </a:prstGeom>
          <a:solidFill>
            <a:srgbClr val="FAFAFA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15210669-34DF-DDBE-CC19-DF20136EE2C8}"/>
              </a:ext>
            </a:extLst>
          </p:cNvPr>
          <p:cNvSpPr/>
          <p:nvPr/>
        </p:nvSpPr>
        <p:spPr>
          <a:xfrm>
            <a:off x="466344" y="2049780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1130188E-BB5A-557A-DFCB-C71D3415C573}"/>
              </a:ext>
            </a:extLst>
          </p:cNvPr>
          <p:cNvSpPr/>
          <p:nvPr/>
        </p:nvSpPr>
        <p:spPr>
          <a:xfrm>
            <a:off x="466344" y="2049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II</a:t>
            </a:r>
            <a:endParaRPr lang="en-US" sz="11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2691D0BD-7B3E-F3BD-EBDF-B817F5C3C776}"/>
              </a:ext>
            </a:extLst>
          </p:cNvPr>
          <p:cNvSpPr/>
          <p:nvPr/>
        </p:nvSpPr>
        <p:spPr>
          <a:xfrm>
            <a:off x="960120" y="1985772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Requirements</a:t>
            </a:r>
            <a:endParaRPr lang="en-US" sz="16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1C2A5494-94D9-0356-FF5C-3663969C210D}"/>
              </a:ext>
            </a:extLst>
          </p:cNvPr>
          <p:cNvSpPr/>
          <p:nvPr/>
        </p:nvSpPr>
        <p:spPr>
          <a:xfrm>
            <a:off x="960120" y="22418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× Feasibility matrix and MoSCoW classification (Must-Have → Won't-Have).</a:t>
            </a:r>
            <a:endParaRPr lang="en-US" sz="110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CB6D34EE-8D63-81A7-6564-31EFFCBB5CB9}"/>
              </a:ext>
            </a:extLst>
          </p:cNvPr>
          <p:cNvSpPr/>
          <p:nvPr/>
        </p:nvSpPr>
        <p:spPr>
          <a:xfrm>
            <a:off x="411480" y="2598420"/>
            <a:ext cx="4160520" cy="576072"/>
          </a:xfrm>
          <a:prstGeom prst="rect">
            <a:avLst/>
          </a:prstGeom>
          <a:solidFill>
            <a:srgbClr val="F0F8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7D496107-B207-F4EE-68AB-A8FA77C36DEC}"/>
              </a:ext>
            </a:extLst>
          </p:cNvPr>
          <p:cNvSpPr/>
          <p:nvPr/>
        </p:nvSpPr>
        <p:spPr>
          <a:xfrm>
            <a:off x="466344" y="2708148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0F12F0EE-A3C4-C26C-37D4-140981D5C219}"/>
              </a:ext>
            </a:extLst>
          </p:cNvPr>
          <p:cNvSpPr/>
          <p:nvPr/>
        </p:nvSpPr>
        <p:spPr>
          <a:xfrm>
            <a:off x="466344" y="27081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III</a:t>
            </a:r>
            <a:endParaRPr lang="en-US" sz="110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C419513A-9C06-9C0E-24A7-103518D6F2FF}"/>
              </a:ext>
            </a:extLst>
          </p:cNvPr>
          <p:cNvSpPr/>
          <p:nvPr/>
        </p:nvSpPr>
        <p:spPr>
          <a:xfrm>
            <a:off x="960120" y="2644140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Requirements</a:t>
            </a:r>
            <a:endParaRPr lang="en-US" sz="160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F340C310-8DCA-6E03-2E3F-27DDFDD1B84B}"/>
              </a:ext>
            </a:extLst>
          </p:cNvPr>
          <p:cNvSpPr/>
          <p:nvPr/>
        </p:nvSpPr>
        <p:spPr>
          <a:xfrm>
            <a:off x="960120" y="29001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10 Functional Requirements (FR1–FR10) and 20 Non-Functional Requirements across 6 quality dimensions.</a:t>
            </a:r>
            <a:endParaRPr lang="en-US" sz="1100" dirty="0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B52C9C17-DE93-82D0-7544-CA235B6ABADC}"/>
              </a:ext>
            </a:extLst>
          </p:cNvPr>
          <p:cNvSpPr/>
          <p:nvPr/>
        </p:nvSpPr>
        <p:spPr>
          <a:xfrm>
            <a:off x="411480" y="3256788"/>
            <a:ext cx="4160520" cy="576072"/>
          </a:xfrm>
          <a:prstGeom prst="rect">
            <a:avLst/>
          </a:prstGeom>
          <a:solidFill>
            <a:srgbClr val="FAFAFA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EADF1057-45CA-0FD4-727C-5917DD6F6879}"/>
              </a:ext>
            </a:extLst>
          </p:cNvPr>
          <p:cNvSpPr/>
          <p:nvPr/>
        </p:nvSpPr>
        <p:spPr>
          <a:xfrm>
            <a:off x="466344" y="3366516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A89324FF-CFC8-3F6C-1BCA-47E668530583}"/>
              </a:ext>
            </a:extLst>
          </p:cNvPr>
          <p:cNvSpPr/>
          <p:nvPr/>
        </p:nvSpPr>
        <p:spPr>
          <a:xfrm>
            <a:off x="466344" y="33665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SRS</a:t>
            </a:r>
            <a:endParaRPr lang="en-US" sz="1100" dirty="0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DAA9D408-DDB4-8B2C-6260-F661F0FF93FD}"/>
              </a:ext>
            </a:extLst>
          </p:cNvPr>
          <p:cNvSpPr/>
          <p:nvPr/>
        </p:nvSpPr>
        <p:spPr>
          <a:xfrm>
            <a:off x="960120" y="3302508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Spec.</a:t>
            </a:r>
            <a:endParaRPr lang="en-US" sz="1600" dirty="0"/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EC51CD73-16CF-F8A8-5430-481F727E5364}"/>
              </a:ext>
            </a:extLst>
          </p:cNvPr>
          <p:cNvSpPr/>
          <p:nvPr/>
        </p:nvSpPr>
        <p:spPr>
          <a:xfrm>
            <a:off x="960120" y="35585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Full SRS document v1.0 — use cases, data dictionary, system constraints, and assumptions.</a:t>
            </a:r>
            <a:endParaRPr lang="en-US" sz="1100" dirty="0"/>
          </a:p>
        </p:txBody>
      </p:sp>
      <p:sp>
        <p:nvSpPr>
          <p:cNvPr id="26" name="Shape 25">
            <a:extLst>
              <a:ext uri="{FF2B5EF4-FFF2-40B4-BE49-F238E27FC236}">
                <a16:creationId xmlns:a16="http://schemas.microsoft.com/office/drawing/2014/main" id="{D346FD97-AD8E-AE44-CC6F-F7CC15BFB1E2}"/>
              </a:ext>
            </a:extLst>
          </p:cNvPr>
          <p:cNvSpPr/>
          <p:nvPr/>
        </p:nvSpPr>
        <p:spPr>
          <a:xfrm>
            <a:off x="411480" y="3915156"/>
            <a:ext cx="4160520" cy="576072"/>
          </a:xfrm>
          <a:prstGeom prst="rect">
            <a:avLst/>
          </a:prstGeom>
          <a:solidFill>
            <a:srgbClr val="F0F8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29ECC13B-5345-0BF6-660E-03C4522E6966}"/>
              </a:ext>
            </a:extLst>
          </p:cNvPr>
          <p:cNvSpPr/>
          <p:nvPr/>
        </p:nvSpPr>
        <p:spPr>
          <a:xfrm>
            <a:off x="466344" y="4024884"/>
            <a:ext cx="384048" cy="384048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F343894E-AC09-7F79-23B1-0741FEF810C7}"/>
              </a:ext>
            </a:extLst>
          </p:cNvPr>
          <p:cNvSpPr/>
          <p:nvPr/>
        </p:nvSpPr>
        <p:spPr>
          <a:xfrm>
            <a:off x="466344" y="40248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IV</a:t>
            </a:r>
            <a:endParaRPr lang="en-US" sz="1100" dirty="0"/>
          </a:p>
        </p:txBody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37B0BAD3-F5E3-13F2-C381-B7A397B0AFC6}"/>
              </a:ext>
            </a:extLst>
          </p:cNvPr>
          <p:cNvSpPr/>
          <p:nvPr/>
        </p:nvSpPr>
        <p:spPr>
          <a:xfrm>
            <a:off x="960120" y="3960876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Stakeholders</a:t>
            </a:r>
            <a:endParaRPr lang="en-US" sz="1600" dirty="0"/>
          </a:p>
        </p:txBody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D8FDEA1A-A527-0EA3-74D9-ECD5749DBE73}"/>
              </a:ext>
            </a:extLst>
          </p:cNvPr>
          <p:cNvSpPr/>
          <p:nvPr/>
        </p:nvSpPr>
        <p:spPr>
          <a:xfrm>
            <a:off x="960120" y="42169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traced back to survey data, cross-checked for contradictions, and aligned with ITU-T QoE standards.</a:t>
            </a:r>
            <a:endParaRPr lang="en-US" sz="1100" dirty="0"/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FF498B6B-D6B0-3486-9633-EAA1191F04D7}"/>
              </a:ext>
            </a:extLst>
          </p:cNvPr>
          <p:cNvSpPr/>
          <p:nvPr/>
        </p:nvSpPr>
        <p:spPr>
          <a:xfrm>
            <a:off x="4846320" y="897636"/>
            <a:ext cx="3840480" cy="2926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2A182B14-1E7E-AF6D-14F0-153D57DEDDB1}"/>
              </a:ext>
            </a:extLst>
          </p:cNvPr>
          <p:cNvSpPr/>
          <p:nvPr/>
        </p:nvSpPr>
        <p:spPr>
          <a:xfrm>
            <a:off x="4937760" y="8976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</a:t>
            </a:r>
            <a:endParaRPr lang="en-US" sz="1200" dirty="0"/>
          </a:p>
        </p:txBody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2AC6BFCF-B8C3-A7AE-309B-FDEDD18DFBD9}"/>
              </a:ext>
            </a:extLst>
          </p:cNvPr>
          <p:cNvSpPr/>
          <p:nvPr/>
        </p:nvSpPr>
        <p:spPr>
          <a:xfrm>
            <a:off x="4846320" y="1299972"/>
            <a:ext cx="3840480" cy="713232"/>
          </a:xfrm>
          <a:prstGeom prst="rect">
            <a:avLst/>
          </a:prstGeom>
          <a:solidFill>
            <a:srgbClr val="FAFEFF"/>
          </a:solidFill>
          <a:ln w="6350">
            <a:solidFill>
              <a:srgbClr val="BBDEFB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0B775C35-0452-F9F3-6814-5FA9350B71E3}"/>
              </a:ext>
            </a:extLst>
          </p:cNvPr>
          <p:cNvSpPr/>
          <p:nvPr/>
        </p:nvSpPr>
        <p:spPr>
          <a:xfrm>
            <a:off x="4846320" y="1299972"/>
            <a:ext cx="64008" cy="7132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5" name="Text 34">
            <a:extLst>
              <a:ext uri="{FF2B5EF4-FFF2-40B4-BE49-F238E27FC236}">
                <a16:creationId xmlns:a16="http://schemas.microsoft.com/office/drawing/2014/main" id="{19304834-8ADE-D455-5462-07AC3D4D64A7}"/>
              </a:ext>
            </a:extLst>
          </p:cNvPr>
          <p:cNvSpPr/>
          <p:nvPr/>
        </p:nvSpPr>
        <p:spPr>
          <a:xfrm>
            <a:off x="5001768" y="13731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</a:t>
            </a:r>
            <a:endParaRPr lang="en-US" sz="3600" dirty="0"/>
          </a:p>
        </p:txBody>
      </p:sp>
      <p:sp>
        <p:nvSpPr>
          <p:cNvPr id="36" name="Text 35">
            <a:extLst>
              <a:ext uri="{FF2B5EF4-FFF2-40B4-BE49-F238E27FC236}">
                <a16:creationId xmlns:a16="http://schemas.microsoft.com/office/drawing/2014/main" id="{47C53A90-88A5-564C-778D-1BB99D82A171}"/>
              </a:ext>
            </a:extLst>
          </p:cNvPr>
          <p:cNvSpPr/>
          <p:nvPr/>
        </p:nvSpPr>
        <p:spPr>
          <a:xfrm>
            <a:off x="6336792" y="13914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Respondents</a:t>
            </a:r>
            <a:endParaRPr lang="en-US" sz="1600" dirty="0"/>
          </a:p>
        </p:txBody>
      </p:sp>
      <p:sp>
        <p:nvSpPr>
          <p:cNvPr id="37" name="Text 36">
            <a:extLst>
              <a:ext uri="{FF2B5EF4-FFF2-40B4-BE49-F238E27FC236}">
                <a16:creationId xmlns:a16="http://schemas.microsoft.com/office/drawing/2014/main" id="{DA48CC66-2C24-0802-10E1-829F270ADE06}"/>
              </a:ext>
            </a:extLst>
          </p:cNvPr>
          <p:cNvSpPr/>
          <p:nvPr/>
        </p:nvSpPr>
        <p:spPr>
          <a:xfrm>
            <a:off x="5001768" y="175717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Across 8 cities in Cameroon</a:t>
            </a:r>
            <a:endParaRPr lang="en-US" sz="1100" dirty="0"/>
          </a:p>
        </p:txBody>
      </p:sp>
      <p:sp>
        <p:nvSpPr>
          <p:cNvPr id="38" name="Shape 37">
            <a:extLst>
              <a:ext uri="{FF2B5EF4-FFF2-40B4-BE49-F238E27FC236}">
                <a16:creationId xmlns:a16="http://schemas.microsoft.com/office/drawing/2014/main" id="{442432AE-7E67-B8D7-C490-C14F73EC5EBB}"/>
              </a:ext>
            </a:extLst>
          </p:cNvPr>
          <p:cNvSpPr/>
          <p:nvPr/>
        </p:nvSpPr>
        <p:spPr>
          <a:xfrm>
            <a:off x="4846320" y="2122932"/>
            <a:ext cx="3840480" cy="713232"/>
          </a:xfrm>
          <a:prstGeom prst="rect">
            <a:avLst/>
          </a:prstGeom>
          <a:solidFill>
            <a:srgbClr val="FAFEFF"/>
          </a:solidFill>
          <a:ln w="6350">
            <a:solidFill>
              <a:srgbClr val="BBDEFB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9" name="Shape 38">
            <a:extLst>
              <a:ext uri="{FF2B5EF4-FFF2-40B4-BE49-F238E27FC236}">
                <a16:creationId xmlns:a16="http://schemas.microsoft.com/office/drawing/2014/main" id="{D6EDEC08-2524-A229-A4B4-09520144C694}"/>
              </a:ext>
            </a:extLst>
          </p:cNvPr>
          <p:cNvSpPr/>
          <p:nvPr/>
        </p:nvSpPr>
        <p:spPr>
          <a:xfrm>
            <a:off x="4846320" y="2122932"/>
            <a:ext cx="64008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5CE2DAD8-55CD-2F69-A9D6-78D3DC9F3FB1}"/>
              </a:ext>
            </a:extLst>
          </p:cNvPr>
          <p:cNvSpPr/>
          <p:nvPr/>
        </p:nvSpPr>
        <p:spPr>
          <a:xfrm>
            <a:off x="5001768" y="219608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3600" dirty="0"/>
          </a:p>
        </p:txBody>
      </p:sp>
      <p:sp>
        <p:nvSpPr>
          <p:cNvPr id="41" name="Text 40">
            <a:extLst>
              <a:ext uri="{FF2B5EF4-FFF2-40B4-BE49-F238E27FC236}">
                <a16:creationId xmlns:a16="http://schemas.microsoft.com/office/drawing/2014/main" id="{6EB3B0D9-42F8-0695-AAFB-89DA32B33A46}"/>
              </a:ext>
            </a:extLst>
          </p:cNvPr>
          <p:cNvSpPr/>
          <p:nvPr/>
        </p:nvSpPr>
        <p:spPr>
          <a:xfrm>
            <a:off x="6336792" y="22143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Documented</a:t>
            </a:r>
            <a:endParaRPr lang="en-US" sz="1600" dirty="0"/>
          </a:p>
        </p:txBody>
      </p:sp>
      <p:sp>
        <p:nvSpPr>
          <p:cNvPr id="42" name="Text 41">
            <a:extLst>
              <a:ext uri="{FF2B5EF4-FFF2-40B4-BE49-F238E27FC236}">
                <a16:creationId xmlns:a16="http://schemas.microsoft.com/office/drawing/2014/main" id="{0C6E2094-2FA9-8DCC-6EE9-142F157A9E64}"/>
              </a:ext>
            </a:extLst>
          </p:cNvPr>
          <p:cNvSpPr/>
          <p:nvPr/>
        </p:nvSpPr>
        <p:spPr>
          <a:xfrm>
            <a:off x="5001768" y="258013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20 FR + 20 NFR in SRS</a:t>
            </a:r>
            <a:endParaRPr lang="en-US" sz="1100" dirty="0"/>
          </a:p>
        </p:txBody>
      </p:sp>
      <p:sp>
        <p:nvSpPr>
          <p:cNvPr id="43" name="Shape 42">
            <a:extLst>
              <a:ext uri="{FF2B5EF4-FFF2-40B4-BE49-F238E27FC236}">
                <a16:creationId xmlns:a16="http://schemas.microsoft.com/office/drawing/2014/main" id="{5A2A5FD7-1B8F-3371-3B95-C5BFC344606A}"/>
              </a:ext>
            </a:extLst>
          </p:cNvPr>
          <p:cNvSpPr/>
          <p:nvPr/>
        </p:nvSpPr>
        <p:spPr>
          <a:xfrm>
            <a:off x="4846320" y="2945892"/>
            <a:ext cx="3840480" cy="713232"/>
          </a:xfrm>
          <a:prstGeom prst="rect">
            <a:avLst/>
          </a:prstGeom>
          <a:solidFill>
            <a:srgbClr val="FAFEFF"/>
          </a:solidFill>
          <a:ln w="6350">
            <a:solidFill>
              <a:srgbClr val="BBDEFB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4" name="Shape 43">
            <a:extLst>
              <a:ext uri="{FF2B5EF4-FFF2-40B4-BE49-F238E27FC236}">
                <a16:creationId xmlns:a16="http://schemas.microsoft.com/office/drawing/2014/main" id="{66CEDE6F-2140-8E57-9880-8D7250BD62C4}"/>
              </a:ext>
            </a:extLst>
          </p:cNvPr>
          <p:cNvSpPr/>
          <p:nvPr/>
        </p:nvSpPr>
        <p:spPr>
          <a:xfrm>
            <a:off x="4846320" y="2945892"/>
            <a:ext cx="64008" cy="71323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5" name="Text 44">
            <a:extLst>
              <a:ext uri="{FF2B5EF4-FFF2-40B4-BE49-F238E27FC236}">
                <a16:creationId xmlns:a16="http://schemas.microsoft.com/office/drawing/2014/main" id="{FE59EE83-4C45-5E47-3906-8F4A3EEBA505}"/>
              </a:ext>
            </a:extLst>
          </p:cNvPr>
          <p:cNvSpPr/>
          <p:nvPr/>
        </p:nvSpPr>
        <p:spPr>
          <a:xfrm>
            <a:off x="5001768" y="301904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89.1%</a:t>
            </a:r>
            <a:endParaRPr lang="en-US" sz="3600" dirty="0"/>
          </a:p>
        </p:txBody>
      </p:sp>
      <p:sp>
        <p:nvSpPr>
          <p:cNvPr id="46" name="Text 45">
            <a:extLst>
              <a:ext uri="{FF2B5EF4-FFF2-40B4-BE49-F238E27FC236}">
                <a16:creationId xmlns:a16="http://schemas.microsoft.com/office/drawing/2014/main" id="{1AB24235-0E76-39A6-9E64-EA055F72E9AC}"/>
              </a:ext>
            </a:extLst>
          </p:cNvPr>
          <p:cNvSpPr/>
          <p:nvPr/>
        </p:nvSpPr>
        <p:spPr>
          <a:xfrm>
            <a:off x="6336792" y="30373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Pain Point</a:t>
            </a:r>
            <a:endParaRPr lang="en-US" sz="1600" dirty="0"/>
          </a:p>
        </p:txBody>
      </p:sp>
      <p:sp>
        <p:nvSpPr>
          <p:cNvPr id="47" name="Text 46">
            <a:extLst>
              <a:ext uri="{FF2B5EF4-FFF2-40B4-BE49-F238E27FC236}">
                <a16:creationId xmlns:a16="http://schemas.microsoft.com/office/drawing/2014/main" id="{2F8367CF-3B7E-9455-8183-70198538B0E6}"/>
              </a:ext>
            </a:extLst>
          </p:cNvPr>
          <p:cNvSpPr/>
          <p:nvPr/>
        </p:nvSpPr>
        <p:spPr>
          <a:xfrm>
            <a:off x="5001768" y="340309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Cite slow internet / buffering</a:t>
            </a:r>
            <a:endParaRPr lang="en-US" sz="1100" dirty="0"/>
          </a:p>
        </p:txBody>
      </p:sp>
      <p:sp>
        <p:nvSpPr>
          <p:cNvPr id="48" name="Shape 47">
            <a:extLst>
              <a:ext uri="{FF2B5EF4-FFF2-40B4-BE49-F238E27FC236}">
                <a16:creationId xmlns:a16="http://schemas.microsoft.com/office/drawing/2014/main" id="{3489E568-7E13-997A-0F17-3921FD7FA7C3}"/>
              </a:ext>
            </a:extLst>
          </p:cNvPr>
          <p:cNvSpPr/>
          <p:nvPr/>
        </p:nvSpPr>
        <p:spPr>
          <a:xfrm>
            <a:off x="4846320" y="3768852"/>
            <a:ext cx="3840480" cy="713232"/>
          </a:xfrm>
          <a:prstGeom prst="rect">
            <a:avLst/>
          </a:prstGeom>
          <a:solidFill>
            <a:srgbClr val="FAFEFF"/>
          </a:solidFill>
          <a:ln w="6350">
            <a:solidFill>
              <a:srgbClr val="BBDEFB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9" name="Shape 48">
            <a:extLst>
              <a:ext uri="{FF2B5EF4-FFF2-40B4-BE49-F238E27FC236}">
                <a16:creationId xmlns:a16="http://schemas.microsoft.com/office/drawing/2014/main" id="{D0AE5B9D-E5ED-9421-74FA-3C2BC33283C5}"/>
              </a:ext>
            </a:extLst>
          </p:cNvPr>
          <p:cNvSpPr/>
          <p:nvPr/>
        </p:nvSpPr>
        <p:spPr>
          <a:xfrm>
            <a:off x="4846320" y="3768852"/>
            <a:ext cx="64008" cy="7132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0" name="Text 49">
            <a:extLst>
              <a:ext uri="{FF2B5EF4-FFF2-40B4-BE49-F238E27FC236}">
                <a16:creationId xmlns:a16="http://schemas.microsoft.com/office/drawing/2014/main" id="{D78F17AD-1FFF-A818-695E-313090507B6D}"/>
              </a:ext>
            </a:extLst>
          </p:cNvPr>
          <p:cNvSpPr/>
          <p:nvPr/>
        </p:nvSpPr>
        <p:spPr>
          <a:xfrm>
            <a:off x="5001768" y="384200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87.8%</a:t>
            </a:r>
            <a:endParaRPr lang="en-US" sz="3600" dirty="0"/>
          </a:p>
        </p:txBody>
      </p:sp>
      <p:sp>
        <p:nvSpPr>
          <p:cNvPr id="51" name="Text 50">
            <a:extLst>
              <a:ext uri="{FF2B5EF4-FFF2-40B4-BE49-F238E27FC236}">
                <a16:creationId xmlns:a16="http://schemas.microsoft.com/office/drawing/2014/main" id="{AF3D18A2-8C49-038F-19CC-F8C7B294E58B}"/>
              </a:ext>
            </a:extLst>
          </p:cNvPr>
          <p:cNvSpPr/>
          <p:nvPr/>
        </p:nvSpPr>
        <p:spPr>
          <a:xfrm>
            <a:off x="6336792" y="38602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App Adoption</a:t>
            </a:r>
            <a:endParaRPr lang="en-US" sz="1600" dirty="0"/>
          </a:p>
        </p:txBody>
      </p:sp>
      <p:sp>
        <p:nvSpPr>
          <p:cNvPr id="52" name="Text 51">
            <a:extLst>
              <a:ext uri="{FF2B5EF4-FFF2-40B4-BE49-F238E27FC236}">
                <a16:creationId xmlns:a16="http://schemas.microsoft.com/office/drawing/2014/main" id="{EDAD01B9-5BAB-F677-8D66-7B41802C86DF}"/>
              </a:ext>
            </a:extLst>
          </p:cNvPr>
          <p:cNvSpPr/>
          <p:nvPr/>
        </p:nvSpPr>
        <p:spPr>
          <a:xfrm>
            <a:off x="5001768" y="422605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Would install if performance meets expectations</a:t>
            </a:r>
            <a:endParaRPr lang="en-US" sz="11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494FCB9-829D-0B65-7E89-F38FBC5875C5}"/>
              </a:ext>
            </a:extLst>
          </p:cNvPr>
          <p:cNvSpPr txBox="1"/>
          <p:nvPr/>
        </p:nvSpPr>
        <p:spPr>
          <a:xfrm>
            <a:off x="8595360" y="266700"/>
            <a:ext cx="495300" cy="373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1</a:t>
            </a:r>
            <a:endParaRPr lang="en-CM" b="1" dirty="0"/>
          </a:p>
        </p:txBody>
      </p:sp>
    </p:spTree>
    <p:extLst>
      <p:ext uri="{BB962C8B-B14F-4D97-AF65-F5344CB8AC3E}">
        <p14:creationId xmlns:p14="http://schemas.microsoft.com/office/powerpoint/2010/main" val="2137481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7393" y="173736"/>
            <a:ext cx="302078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8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36764" y="216027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&amp; </a:t>
            </a:r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</a:t>
            </a:r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</a:t>
            </a:r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GATHERED</a:t>
            </a:r>
            <a:endParaRPr lang="en-US" sz="4000" dirty="0"/>
          </a:p>
        </p:txBody>
      </p:sp>
      <p:pic>
        <p:nvPicPr>
          <p:cNvPr id="7" name="Picture 6" descr="Requirements Analysis - Understanding the Process &amp; Techniques - Reqtest">
            <a:extLst>
              <a:ext uri="{FF2B5EF4-FFF2-40B4-BE49-F238E27FC236}">
                <a16:creationId xmlns:a16="http://schemas.microsoft.com/office/drawing/2014/main" id="{5C07FE51-D5A3-A8C9-A1F2-46870D2376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1237"/>
          <a:stretch>
            <a:fillRect/>
          </a:stretch>
        </p:blipFill>
        <p:spPr>
          <a:xfrm>
            <a:off x="4189952" y="0"/>
            <a:ext cx="4954048" cy="5143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D05AB5-BA19-90F9-83E5-1B07C35B2B69}"/>
              </a:ext>
            </a:extLst>
          </p:cNvPr>
          <p:cNvSpPr txBox="1"/>
          <p:nvPr/>
        </p:nvSpPr>
        <p:spPr>
          <a:xfrm>
            <a:off x="8595360" y="173736"/>
            <a:ext cx="495300" cy="373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2</a:t>
            </a:r>
            <a:endParaRPr lang="en-CM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Overview &amp; Respondent Demographics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190 participants across Buea, Yaounde, Douala, Bamenda, Limbe, Dschang, Kumba &amp; Tiko.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7025" y="1524762"/>
            <a:ext cx="1920240" cy="1420260"/>
          </a:xfrm>
          <a:prstGeom prst="rect">
            <a:avLst/>
          </a:prstGeom>
          <a:solidFill>
            <a:srgbClr val="F0F8FF"/>
          </a:solidFill>
          <a:ln w="1016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7025" y="1524762"/>
            <a:ext cx="1920240" cy="1645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7025" y="17602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73.9%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27025" y="2302213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18–25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7025" y="2649801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139 of 190 respondents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52156" y="1674331"/>
            <a:ext cx="1920240" cy="1270691"/>
          </a:xfrm>
          <a:prstGeom prst="rect">
            <a:avLst/>
          </a:prstGeom>
          <a:solidFill>
            <a:srgbClr val="F0F8FF"/>
          </a:solidFill>
          <a:ln w="1016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516270"/>
            <a:ext cx="1920240" cy="14388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5016" y="1766311"/>
            <a:ext cx="1920240" cy="439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72.9%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543992" y="2318321"/>
            <a:ext cx="1920240" cy="223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52156" y="2630206"/>
            <a:ext cx="1920240" cy="175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137 of 190 respondents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1920240" cy="1386296"/>
          </a:xfrm>
          <a:prstGeom prst="rect">
            <a:avLst/>
          </a:prstGeom>
          <a:solidFill>
            <a:srgbClr val="F0F8FF"/>
          </a:solidFill>
          <a:ln w="1016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291840"/>
            <a:ext cx="1920240" cy="1645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2289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75.9%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57200" y="40462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 Users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3525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145 of 191 respondents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0" y="3259836"/>
            <a:ext cx="1920240" cy="1418300"/>
          </a:xfrm>
          <a:prstGeom prst="rect">
            <a:avLst/>
          </a:prstGeom>
          <a:solidFill>
            <a:srgbClr val="F0F8FF"/>
          </a:solidFill>
          <a:ln w="10160">
            <a:solidFill>
              <a:srgbClr val="BBDEF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0" y="3259836"/>
            <a:ext cx="192024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348370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82.7%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2527271" y="40263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 / LTE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560320" y="4340461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Primary network gen.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685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Reported Network Issues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127471" y="115900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Slow Internet</a:t>
            </a:r>
            <a:endParaRPr lang="en-US" sz="1100" b="1" dirty="0"/>
          </a:p>
        </p:txBody>
      </p:sp>
      <p:sp>
        <p:nvSpPr>
          <p:cNvPr id="27" name="Shape 25"/>
          <p:cNvSpPr/>
          <p:nvPr/>
        </p:nvSpPr>
        <p:spPr>
          <a:xfrm>
            <a:off x="5453351" y="1195578"/>
            <a:ext cx="3474720" cy="24688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45187" y="1195578"/>
            <a:ext cx="3092501" cy="24688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1572" y="115900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137660" y="192481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Signal Loss</a:t>
            </a:r>
            <a:endParaRPr lang="en-US" sz="1100" b="1" dirty="0"/>
          </a:p>
        </p:txBody>
      </p:sp>
      <p:sp>
        <p:nvSpPr>
          <p:cNvPr id="31" name="Shape 29"/>
          <p:cNvSpPr/>
          <p:nvPr/>
        </p:nvSpPr>
        <p:spPr>
          <a:xfrm>
            <a:off x="5445187" y="1972818"/>
            <a:ext cx="3474720" cy="24688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45187" y="1972818"/>
            <a:ext cx="1181405" cy="2468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2312" y="193624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137660" y="267233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WhatsApp Fails</a:t>
            </a:r>
            <a:endParaRPr lang="en-US" sz="1100" b="1" dirty="0"/>
          </a:p>
        </p:txBody>
      </p:sp>
      <p:sp>
        <p:nvSpPr>
          <p:cNvPr id="35" name="Shape 33"/>
          <p:cNvSpPr/>
          <p:nvPr/>
        </p:nvSpPr>
        <p:spPr>
          <a:xfrm>
            <a:off x="5444337" y="2716748"/>
            <a:ext cx="3474720" cy="24688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44337" y="2716748"/>
            <a:ext cx="1355141" cy="24688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45198" y="26801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137660" y="3353889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</a:t>
            </a:r>
            <a:endParaRPr lang="en-US" sz="1100" b="1" dirty="0"/>
          </a:p>
        </p:txBody>
      </p:sp>
      <p:sp>
        <p:nvSpPr>
          <p:cNvPr id="39" name="Shape 37"/>
          <p:cNvSpPr/>
          <p:nvPr/>
        </p:nvSpPr>
        <p:spPr>
          <a:xfrm>
            <a:off x="5453351" y="3407120"/>
            <a:ext cx="3474720" cy="24688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53351" y="3407120"/>
            <a:ext cx="868680" cy="2468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67751" y="33705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127471" y="4082796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Dropped Calls</a:t>
            </a:r>
            <a:endParaRPr lang="en-US" sz="1100" b="1" dirty="0"/>
          </a:p>
        </p:txBody>
      </p:sp>
      <p:sp>
        <p:nvSpPr>
          <p:cNvPr id="43" name="Shape 41"/>
          <p:cNvSpPr/>
          <p:nvPr/>
        </p:nvSpPr>
        <p:spPr>
          <a:xfrm>
            <a:off x="5453351" y="4119372"/>
            <a:ext cx="3474720" cy="246888"/>
          </a:xfrm>
          <a:prstGeom prst="rect">
            <a:avLst/>
          </a:prstGeom>
          <a:solidFill>
            <a:srgbClr val="E3F2FD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53351" y="4119372"/>
            <a:ext cx="764438" cy="24688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509" y="408279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86E14A3-598D-92B3-0A1B-3B0671FD0F82}"/>
              </a:ext>
            </a:extLst>
          </p:cNvPr>
          <p:cNvSpPr txBox="1"/>
          <p:nvPr/>
        </p:nvSpPr>
        <p:spPr>
          <a:xfrm>
            <a:off x="8680421" y="236220"/>
            <a:ext cx="495300" cy="373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3</a:t>
            </a:r>
            <a:endParaRPr lang="en-CM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Completeness, Clarity &amp; Feasibility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AREAS COVERED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Pain Points (89.1% cite slow internet)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Patterns — 61.7% experience issues daily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Adoption up to 87.8% conditional rate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Concerns — data, battery, privacy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Features ranked by respondents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&amp; Notification Preferences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63440" y="777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CLEAR REQUIREMENTS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63440" y="105156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background monitoring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speed history display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signal quality map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comparison view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prompt frequency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Optional/approximate GPS with consent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data sharing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4114800" cy="777240"/>
          </a:xfrm>
          <a:prstGeom prst="rect">
            <a:avLst/>
          </a:prstGeom>
          <a:solidFill>
            <a:srgbClr val="F1F8E9"/>
          </a:solidFill>
          <a:ln w="10160">
            <a:solidFill>
              <a:srgbClr val="A5D6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977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4251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monitoring · Speed history · Coverage map · Push notifications · Data upload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3931920"/>
            <a:ext cx="4114800" cy="777240"/>
          </a:xfrm>
          <a:prstGeom prst="rect">
            <a:avLst/>
          </a:prstGeom>
          <a:solidFill>
            <a:srgbClr val="FFF3E0"/>
          </a:solidFill>
          <a:ln w="10160">
            <a:solidFill>
              <a:srgbClr val="FFCC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977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4251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monitoring · Cross-operator comparison · Data anonymization at scale · iOS background limits</a:t>
            </a:r>
            <a:endParaRPr 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5EAAC8-44BA-3F76-B69B-90E676A6618E}"/>
              </a:ext>
            </a:extLst>
          </p:cNvPr>
          <p:cNvSpPr txBox="1"/>
          <p:nvPr/>
        </p:nvSpPr>
        <p:spPr>
          <a:xfrm>
            <a:off x="8622030" y="197358"/>
            <a:ext cx="495300" cy="373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4</a:t>
            </a:r>
            <a:endParaRPr lang="en-CM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Inconsistencies, Ambiguities &amp; Dependencies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5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INCONSISTENCIES IDENTIFIED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5943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vs. Location Mapping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399032"/>
            <a:ext cx="7863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47 said No to GPS, yet 86 want coverage map → design map with partial consent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73936"/>
            <a:ext cx="82296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73936"/>
            <a:ext cx="54864" cy="5943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196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Prompts vs. Rewards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075688"/>
            <a:ext cx="7863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62 prefer silent monitoring yet 88 want rewards → passive reward model needed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450592"/>
            <a:ext cx="8229600" cy="594360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450592"/>
            <a:ext cx="54864" cy="5943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4963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vs. MNO Sharing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2752344"/>
            <a:ext cx="7863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65 want data only for themselves vs. 82 support MNO access → per-user consent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127248"/>
            <a:ext cx="8229600" cy="594360"/>
          </a:xfrm>
          <a:prstGeom prst="rect">
            <a:avLst/>
          </a:prstGeom>
          <a:solidFill>
            <a:srgbClr val="F3F4F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127248"/>
            <a:ext cx="54864" cy="5943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1729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Paradox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3429000"/>
            <a:ext cx="7863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9 rated 5/5 yet reported daily issues → measure objective metrics, not just ratings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1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CHAIN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20040" y="4160520"/>
            <a:ext cx="1280160" cy="594360"/>
          </a:xfrm>
          <a:prstGeom prst="rect">
            <a:avLst/>
          </a:prstGeom>
          <a:solidFill>
            <a:srgbClr val="0A2342"/>
          </a:solidFill>
          <a:ln w="10160">
            <a:solidFill>
              <a:srgbClr val="0A23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160520"/>
            <a:ext cx="12801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Consent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600200" y="4407408"/>
            <a:ext cx="201168" cy="914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01368" y="4160520"/>
            <a:ext cx="1280160" cy="594360"/>
          </a:xfrm>
          <a:prstGeom prst="rect">
            <a:avLst/>
          </a:prstGeom>
          <a:solidFill>
            <a:srgbClr val="EBF5FB"/>
          </a:solidFill>
          <a:ln w="10160">
            <a:solidFill>
              <a:srgbClr val="0097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01368" y="4160520"/>
            <a:ext cx="12801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Permissions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081528" y="4407408"/>
            <a:ext cx="201168" cy="914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82696" y="4160520"/>
            <a:ext cx="1280160" cy="594360"/>
          </a:xfrm>
          <a:prstGeom prst="rect">
            <a:avLst/>
          </a:prstGeom>
          <a:solidFill>
            <a:srgbClr val="EBF5FB"/>
          </a:solidFill>
          <a:ln w="10160">
            <a:solidFill>
              <a:srgbClr val="0097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82696" y="4160520"/>
            <a:ext cx="12801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Monitoring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62856" y="4407408"/>
            <a:ext cx="201168" cy="914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64024" y="4160520"/>
            <a:ext cx="1280160" cy="594360"/>
          </a:xfrm>
          <a:prstGeom prst="rect">
            <a:avLst/>
          </a:prstGeom>
          <a:solidFill>
            <a:srgbClr val="EBF5FB"/>
          </a:solidFill>
          <a:ln w="10160">
            <a:solidFill>
              <a:srgbClr val="0097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64024" y="4160520"/>
            <a:ext cx="12801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044184" y="4407408"/>
            <a:ext cx="201168" cy="914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45352" y="4160520"/>
            <a:ext cx="1280160" cy="594360"/>
          </a:xfrm>
          <a:prstGeom prst="rect">
            <a:avLst/>
          </a:prstGeom>
          <a:solidFill>
            <a:srgbClr val="EBF5FB"/>
          </a:solidFill>
          <a:ln w="10160">
            <a:solidFill>
              <a:srgbClr val="0097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45352" y="4160520"/>
            <a:ext cx="12801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Upload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525512" y="4407408"/>
            <a:ext cx="201168" cy="914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26680" y="4160520"/>
            <a:ext cx="1280160" cy="594360"/>
          </a:xfrm>
          <a:prstGeom prst="rect">
            <a:avLst/>
          </a:prstGeom>
          <a:solidFill>
            <a:srgbClr val="0097A7"/>
          </a:solidFill>
          <a:ln w="10160">
            <a:solidFill>
              <a:srgbClr val="0097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26680" y="4160520"/>
            <a:ext cx="12801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Map</a:t>
            </a:r>
            <a:endParaRPr 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D25B768-6E7A-15D7-2B14-BEA0D9F30B63}"/>
              </a:ext>
            </a:extLst>
          </p:cNvPr>
          <p:cNvSpPr txBox="1"/>
          <p:nvPr/>
        </p:nvSpPr>
        <p:spPr>
          <a:xfrm>
            <a:off x="8648700" y="182880"/>
            <a:ext cx="495300" cy="373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5</a:t>
            </a:r>
            <a:endParaRPr lang="en-CM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61257" y="530352"/>
            <a:ext cx="369025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</a:t>
            </a:r>
            <a:endParaRPr lang="en-US" sz="8000" dirty="0">
              <a:solidFill>
                <a:schemeClr val="bg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61257" y="1748790"/>
            <a:ext cx="38943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REQUIREMENTS</a:t>
            </a:r>
            <a:endParaRPr lang="en-US" sz="3600" dirty="0"/>
          </a:p>
        </p:txBody>
      </p:sp>
      <p:pic>
        <p:nvPicPr>
          <p:cNvPr id="6" name="Picture 5" descr="REQUIREMENT PRIORITIZATION">
            <a:extLst>
              <a:ext uri="{FF2B5EF4-FFF2-40B4-BE49-F238E27FC236}">
                <a16:creationId xmlns:a16="http://schemas.microsoft.com/office/drawing/2014/main" id="{196D6A7D-78F3-C3A7-323B-3E5AC00A81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857" r="9571"/>
          <a:stretch>
            <a:fillRect/>
          </a:stretch>
        </p:blipFill>
        <p:spPr>
          <a:xfrm>
            <a:off x="3951514" y="-1"/>
            <a:ext cx="5243667" cy="51435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FCC960-83EE-111E-C8E6-EC73A63C83B8}"/>
              </a:ext>
            </a:extLst>
          </p:cNvPr>
          <p:cNvSpPr txBox="1"/>
          <p:nvPr/>
        </p:nvSpPr>
        <p:spPr>
          <a:xfrm>
            <a:off x="8595360" y="0"/>
            <a:ext cx="495300" cy="373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6</a:t>
            </a:r>
            <a:endParaRPr lang="en-CM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Matrix: Importance × Feasibility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0" cy="1783080"/>
          </a:xfrm>
          <a:prstGeom prst="rect">
            <a:avLst/>
          </a:prstGeom>
          <a:solidFill>
            <a:srgbClr val="F1F8E9"/>
          </a:solidFill>
          <a:ln w="10160">
            <a:solidFill>
              <a:srgbClr val="A5D6A7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005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Importance / High Feasibility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16002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Speed History (92 votes)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8745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Coverage Maps (87 votes)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2148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Monitoring (62+ votes)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24231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Operator Comparison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0" y="914400"/>
            <a:ext cx="4114800" cy="1783080"/>
          </a:xfrm>
          <a:prstGeom prst="rect">
            <a:avLst/>
          </a:prstGeom>
          <a:solidFill>
            <a:srgbClr val="FFF3E0"/>
          </a:solidFill>
          <a:ln w="10160">
            <a:solidFill>
              <a:srgbClr val="FFCC8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56047" y="1005840"/>
            <a:ext cx="25632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TO RETAIN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56048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Importance / Medium Feasibility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56048" y="16002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Data Consumption (127 concerns)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56048" y="18745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Battery Drain (69 concerns)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4114800" cy="1783080"/>
          </a:xfrm>
          <a:prstGeom prst="rect">
            <a:avLst/>
          </a:prstGeom>
          <a:solidFill>
            <a:srgbClr val="E3F2FD"/>
          </a:solidFill>
          <a:ln w="10160">
            <a:solidFill>
              <a:srgbClr val="90CAF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2834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ADDS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6928" y="3063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Importance / High Feasibility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" y="34290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Location Privacy (85 votes)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" y="37033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on Low-End Devices (45 concerns)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2743200"/>
            <a:ext cx="4114800" cy="1783080"/>
          </a:xfrm>
          <a:prstGeom prst="rect">
            <a:avLst/>
          </a:prstGeom>
          <a:solidFill>
            <a:srgbClr val="ECEFF1"/>
          </a:solidFill>
          <a:ln w="10160">
            <a:solidFill>
              <a:srgbClr val="B0BEC5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56048" y="2834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56048" y="3063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Importance / Low Feasibility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56047" y="3511623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Manual Rating Prompts (35 votes)</a:t>
            </a:r>
          </a:p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56048" y="3796393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Real-time GPS tracking</a:t>
            </a:r>
            <a:endParaRPr 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23EC68-4E55-8F56-964E-4AE78B425636}"/>
              </a:ext>
            </a:extLst>
          </p:cNvPr>
          <p:cNvSpPr txBox="1"/>
          <p:nvPr/>
        </p:nvSpPr>
        <p:spPr>
          <a:xfrm>
            <a:off x="8656320" y="182880"/>
            <a:ext cx="495300" cy="373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7</a:t>
            </a:r>
            <a:endParaRPr lang="en-CM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MoSCoW Prioritization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4114800" cy="1828800"/>
          </a:xfrm>
          <a:prstGeom prst="rect">
            <a:avLst/>
          </a:prstGeom>
          <a:solidFill>
            <a:srgbClr val="FFEBEE"/>
          </a:solidFill>
          <a:ln w="15240">
            <a:solidFill>
              <a:srgbClr val="B71C1C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22960"/>
            <a:ext cx="4114800" cy="34747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68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MUST-HAVE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Data Consumption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819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Battery Impact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9293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Approximate Location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2768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Storage &amp; Sync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4114800" cy="182880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34640"/>
            <a:ext cx="41148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80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SHOULD-HAVE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3246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Speed History (92 votes)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5935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Coverage Map (87 votes)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822960"/>
            <a:ext cx="4114800" cy="1828800"/>
          </a:xfrm>
          <a:prstGeom prst="rect">
            <a:avLst/>
          </a:prstGeom>
          <a:solidFill>
            <a:srgbClr val="F1F8E9"/>
          </a:solidFill>
          <a:ln w="15240">
            <a:solidFill>
              <a:srgbClr val="1B5E2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822960"/>
            <a:ext cx="411480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868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COULD-HAVE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Comparison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15819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Background Monitoring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19293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Complaint Support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2834640"/>
            <a:ext cx="4114800" cy="1828800"/>
          </a:xfrm>
          <a:prstGeom prst="rect">
            <a:avLst/>
          </a:prstGeom>
          <a:solidFill>
            <a:srgbClr val="ECEFF1"/>
          </a:solidFill>
          <a:ln w="15240">
            <a:solidFill>
              <a:srgbClr val="546E7A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2834640"/>
            <a:ext cx="4114800" cy="34747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880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WON'T-HAVE (Now)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37760" y="3246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Manual Rating Prompts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35935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Exact GPS Tracking</a:t>
            </a:r>
            <a:endParaRPr 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D55AF7-B40D-0B64-5BFF-B6E0F9EAC28E}"/>
              </a:ext>
            </a:extLst>
          </p:cNvPr>
          <p:cNvSpPr txBox="1"/>
          <p:nvPr/>
        </p:nvSpPr>
        <p:spPr>
          <a:xfrm>
            <a:off x="8595360" y="182880"/>
            <a:ext cx="495300" cy="373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8</a:t>
            </a:r>
            <a:endParaRPr lang="en-CM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8407" y="554845"/>
            <a:ext cx="272687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</a:t>
            </a:r>
            <a:endParaRPr lang="en-US" sz="8000" dirty="0">
              <a:solidFill>
                <a:schemeClr val="bg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12271" y="1985554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</a:t>
            </a:r>
          </a:p>
          <a:p>
            <a:pPr marL="0" indent="0" algn="l">
              <a:buNone/>
            </a:pPr>
            <a:r>
              <a:rPr lang="en-US" sz="36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3600" dirty="0">
              <a:solidFill>
                <a:schemeClr val="bg2"/>
              </a:solidFill>
            </a:endParaRPr>
          </a:p>
        </p:txBody>
      </p:sp>
      <p:pic>
        <p:nvPicPr>
          <p:cNvPr id="8" name="Picture 7" descr="Non-Functional Requirements: Tips, Tools, and Examples | Perforce Software">
            <a:extLst>
              <a:ext uri="{FF2B5EF4-FFF2-40B4-BE49-F238E27FC236}">
                <a16:creationId xmlns:a16="http://schemas.microsoft.com/office/drawing/2014/main" id="{90DE4951-E2B2-ABAF-E869-FE455120B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479" y="-1"/>
            <a:ext cx="5693228" cy="51435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CF9DE5-A174-4034-54D6-CA8F67FBCF59}"/>
              </a:ext>
            </a:extLst>
          </p:cNvPr>
          <p:cNvSpPr txBox="1"/>
          <p:nvPr/>
        </p:nvSpPr>
        <p:spPr>
          <a:xfrm>
            <a:off x="8648700" y="-2"/>
            <a:ext cx="495300" cy="373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/>
                </a:solidFill>
              </a:rPr>
              <a:t>9</a:t>
            </a:r>
            <a:endParaRPr lang="en-CM" b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4114800" cy="713232"/>
          </a:xfrm>
          <a:prstGeom prst="rect">
            <a:avLst/>
          </a:prstGeom>
          <a:solidFill>
            <a:srgbClr val="F0F8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77240"/>
            <a:ext cx="502920" cy="7132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8503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Network Monitoring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51560" y="116128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collection without user interaction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581912"/>
            <a:ext cx="4114800" cy="713232"/>
          </a:xfrm>
          <a:prstGeom prst="rect">
            <a:avLst/>
          </a:prstGeom>
          <a:solidFill>
            <a:srgbClr val="FAFAFA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581912"/>
            <a:ext cx="502920" cy="7132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81912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6550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Metric Collection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51560" y="196596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Type, signal strength, speed, GPS, timestamp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386584"/>
            <a:ext cx="4114800" cy="713232"/>
          </a:xfrm>
          <a:prstGeom prst="rect">
            <a:avLst/>
          </a:prstGeom>
          <a:solidFill>
            <a:srgbClr val="F0F8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386584"/>
            <a:ext cx="502920" cy="7132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86584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45973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 Prompts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51560" y="277063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Periodic prompts to rate network experience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191256"/>
            <a:ext cx="4114800" cy="713232"/>
          </a:xfrm>
          <a:prstGeom prst="rect">
            <a:avLst/>
          </a:prstGeom>
          <a:solidFill>
            <a:srgbClr val="FAFAFA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191256"/>
            <a:ext cx="502920" cy="7132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191256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32644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Automatic Mode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51560" y="3575304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Silent collection with no user prompts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995928"/>
            <a:ext cx="4114800" cy="713232"/>
          </a:xfrm>
          <a:prstGeom prst="rect">
            <a:avLst/>
          </a:prstGeom>
          <a:solidFill>
            <a:srgbClr val="F0F8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995928"/>
            <a:ext cx="502920" cy="7132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99592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40690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Speed History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051560" y="437997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Store &amp; display personal speed log over time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46320" y="777240"/>
            <a:ext cx="4114800" cy="713232"/>
          </a:xfrm>
          <a:prstGeom prst="rect">
            <a:avLst/>
          </a:prstGeom>
          <a:solidFill>
            <a:srgbClr val="F0F8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777240"/>
            <a:ext cx="502920" cy="7132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7772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40680" y="8503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Coverage Map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440680" y="1161288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Map of signal quality across locations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846320" y="1581912"/>
            <a:ext cx="4114800" cy="713232"/>
          </a:xfrm>
          <a:prstGeom prst="rect">
            <a:avLst/>
          </a:prstGeom>
          <a:solidFill>
            <a:srgbClr val="FAFAFA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46320" y="1581912"/>
            <a:ext cx="502920" cy="7132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1581912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40680" y="16550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Comparison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440680" y="196596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Compare performance between operators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846320" y="2386584"/>
            <a:ext cx="4114800" cy="713232"/>
          </a:xfrm>
          <a:prstGeom prst="rect">
            <a:avLst/>
          </a:prstGeom>
          <a:solidFill>
            <a:srgbClr val="F0F8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2386584"/>
            <a:ext cx="502920" cy="7132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2386584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40680" y="245973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Data Sharing</a:t>
            </a: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440680" y="277063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Share anonymized data with MNOs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846320" y="3191256"/>
            <a:ext cx="4114800" cy="713232"/>
          </a:xfrm>
          <a:prstGeom prst="rect">
            <a:avLst/>
          </a:prstGeom>
          <a:solidFill>
            <a:srgbClr val="FAFAFA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3191256"/>
            <a:ext cx="502920" cy="7132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3191256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FR9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40680" y="32644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Data Storage</a:t>
            </a: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440680" y="3575304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Store locally and sync when online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4846320" y="3995928"/>
            <a:ext cx="4114800" cy="713232"/>
          </a:xfrm>
          <a:prstGeom prst="rect">
            <a:avLst/>
          </a:prstGeom>
          <a:solidFill>
            <a:srgbClr val="F0F8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46320" y="3995928"/>
            <a:ext cx="502920" cy="7132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3995928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FR10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440680" y="40690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Problem Alerts</a:t>
            </a: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440680" y="4379976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Notify user of significant quality drops</a:t>
            </a:r>
            <a:endParaRPr lang="en-US" sz="1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0313DBD-B0B1-BB4D-C121-1D925DFB137F}"/>
              </a:ext>
            </a:extLst>
          </p:cNvPr>
          <p:cNvSpPr txBox="1"/>
          <p:nvPr/>
        </p:nvSpPr>
        <p:spPr>
          <a:xfrm>
            <a:off x="8648700" y="146304"/>
            <a:ext cx="495300" cy="373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10</a:t>
            </a:r>
            <a:endParaRPr lang="en-CM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651760" cy="1828800"/>
          </a:xfrm>
          <a:prstGeom prst="rect">
            <a:avLst/>
          </a:prstGeom>
          <a:solidFill>
            <a:srgbClr val="E3F2FD"/>
          </a:solidFill>
          <a:ln w="10160">
            <a:solidFill>
              <a:srgbClr val="1565C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265176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≤ 5% per hour during background ops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68249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data &lt; 10 MB/day for background ops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651760" cy="1828800"/>
          </a:xfrm>
          <a:prstGeom prst="rect">
            <a:avLst/>
          </a:prstGeom>
          <a:solidFill>
            <a:srgbClr val="E0F7FA"/>
          </a:solidFill>
          <a:ln w="10160">
            <a:solidFill>
              <a:srgbClr val="0097A7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22960"/>
            <a:ext cx="2651760" cy="3200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85953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Security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46120" y="12070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coordinates anonymized before storage/transmission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68249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transmitted data encrypted end-to-end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46120" y="215798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transparency disclosure on first run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822960"/>
            <a:ext cx="2651760" cy="1828800"/>
          </a:xfrm>
          <a:prstGeom prst="rect">
            <a:avLst/>
          </a:prstGeom>
          <a:solidFill>
            <a:srgbClr val="F3E5F5"/>
          </a:solidFill>
          <a:ln w="10160">
            <a:solidFill>
              <a:srgbClr val="7B1FA2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822960"/>
            <a:ext cx="2651760" cy="32004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85953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80760" y="12070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8.0+ incl. Tecno, Itel, Infinix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80760" y="168249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noticeable slowdown on entry-level devices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737360" y="2834640"/>
            <a:ext cx="2651760" cy="1828800"/>
          </a:xfrm>
          <a:prstGeom prst="rect">
            <a:avLst/>
          </a:prstGeom>
          <a:solidFill>
            <a:srgbClr val="F1F8E9"/>
          </a:solidFill>
          <a:ln w="10160">
            <a:solidFill>
              <a:srgbClr val="1B5E2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737360" y="2834640"/>
            <a:ext cx="2651760" cy="3200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287121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783080" y="321868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users navigate without training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83080" y="369417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support: English &amp; French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2834640"/>
            <a:ext cx="2651760" cy="1828800"/>
          </a:xfrm>
          <a:prstGeom prst="rect">
            <a:avLst/>
          </a:prstGeom>
          <a:solidFill>
            <a:srgbClr val="FFF3E0"/>
          </a:solidFill>
          <a:ln w="10160">
            <a:solidFill>
              <a:srgbClr val="E6510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2834640"/>
            <a:ext cx="2651760" cy="3200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87121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17720" y="321868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service auto-restarts if killed by OS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17720" y="369417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data buffered and synced on reconnect</a:t>
            </a:r>
            <a:endParaRPr 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0BCC87-63F7-D0F0-C81C-8A41DFBF3B13}"/>
              </a:ext>
            </a:extLst>
          </p:cNvPr>
          <p:cNvSpPr txBox="1"/>
          <p:nvPr/>
        </p:nvSpPr>
        <p:spPr>
          <a:xfrm>
            <a:off x="8641080" y="182880"/>
            <a:ext cx="495300" cy="373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11</a:t>
            </a:r>
            <a:endParaRPr lang="en-CM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F3E6547-7921-301A-922B-A2C661DA3986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1776CB-2D77-4B0C-85CE-662CDC4ECB4F}"/>
              </a:ext>
            </a:extLst>
          </p:cNvPr>
          <p:cNvSpPr txBox="1"/>
          <p:nvPr/>
        </p:nvSpPr>
        <p:spPr>
          <a:xfrm>
            <a:off x="299545" y="591207"/>
            <a:ext cx="23727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0" b="1" dirty="0">
                <a:solidFill>
                  <a:schemeClr val="bg1"/>
                </a:solidFill>
              </a:rPr>
              <a:t>IV.</a:t>
            </a:r>
            <a:endParaRPr lang="en-CM" sz="80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85C4E9-05BE-0DF4-B048-5651C6E081DC}"/>
              </a:ext>
            </a:extLst>
          </p:cNvPr>
          <p:cNvSpPr txBox="1"/>
          <p:nvPr/>
        </p:nvSpPr>
        <p:spPr>
          <a:xfrm>
            <a:off x="299545" y="1694587"/>
            <a:ext cx="3657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SOFTWARE REQUIREMENTS SPECIFICATION</a:t>
            </a:r>
          </a:p>
          <a:p>
            <a:r>
              <a:rPr lang="fr-FR" sz="3600" b="1" dirty="0">
                <a:solidFill>
                  <a:schemeClr val="bg1"/>
                </a:solidFill>
              </a:rPr>
              <a:t>(SRS)</a:t>
            </a:r>
            <a:endParaRPr lang="en-CM" sz="3600" b="1" dirty="0">
              <a:solidFill>
                <a:schemeClr val="bg1"/>
              </a:solidFill>
            </a:endParaRPr>
          </a:p>
        </p:txBody>
      </p:sp>
      <p:pic>
        <p:nvPicPr>
          <p:cNvPr id="5" name="Picture 4" descr="How to write a good software requirements specification (SRS)? - ImpiCode">
            <a:extLst>
              <a:ext uri="{FF2B5EF4-FFF2-40B4-BE49-F238E27FC236}">
                <a16:creationId xmlns:a16="http://schemas.microsoft.com/office/drawing/2014/main" id="{A37B284A-FB10-F893-D97D-9887CB0E13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48" r="16069"/>
          <a:stretch>
            <a:fillRect/>
          </a:stretch>
        </p:blipFill>
        <p:spPr>
          <a:xfrm>
            <a:off x="3886199" y="-17024"/>
            <a:ext cx="5263183" cy="51605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BF52FB-4BAD-1824-8B74-6DE0820EEF83}"/>
              </a:ext>
            </a:extLst>
          </p:cNvPr>
          <p:cNvSpPr txBox="1"/>
          <p:nvPr/>
        </p:nvSpPr>
        <p:spPr>
          <a:xfrm>
            <a:off x="8595360" y="266700"/>
            <a:ext cx="495300" cy="373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12</a:t>
            </a:r>
            <a:endParaRPr lang="en-CM" b="1" dirty="0"/>
          </a:p>
        </p:txBody>
      </p:sp>
    </p:spTree>
    <p:extLst>
      <p:ext uri="{BB962C8B-B14F-4D97-AF65-F5344CB8AC3E}">
        <p14:creationId xmlns:p14="http://schemas.microsoft.com/office/powerpoint/2010/main" val="3585210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CEE01E9D-686F-1827-F2A0-F113A0D42FCD}"/>
              </a:ext>
            </a:extLst>
          </p:cNvPr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Specification (SRS)</a:t>
            </a:r>
            <a:endParaRPr lang="en-US" sz="320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F9D48486-C71B-E608-6F58-77559D98CA38}"/>
              </a:ext>
            </a:extLst>
          </p:cNvPr>
          <p:cNvSpPr/>
          <p:nvPr/>
        </p:nvSpPr>
        <p:spPr>
          <a:xfrm>
            <a:off x="457200" y="1005840"/>
            <a:ext cx="4114800" cy="1097280"/>
          </a:xfrm>
          <a:prstGeom prst="rect">
            <a:avLst/>
          </a:prstGeom>
          <a:solidFill>
            <a:srgbClr val="FAFEFF"/>
          </a:solidFill>
          <a:ln w="7620">
            <a:solidFill>
              <a:srgbClr val="BBDEFB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B14C514E-D2B3-F859-6105-E25C06CD5E1D}"/>
              </a:ext>
            </a:extLst>
          </p:cNvPr>
          <p:cNvSpPr/>
          <p:nvPr/>
        </p:nvSpPr>
        <p:spPr>
          <a:xfrm>
            <a:off x="457200" y="1005840"/>
            <a:ext cx="64008" cy="10972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20C338D9-42F8-F2DB-BEA8-307E396B70C5}"/>
              </a:ext>
            </a:extLst>
          </p:cNvPr>
          <p:cNvSpPr/>
          <p:nvPr/>
        </p:nvSpPr>
        <p:spPr>
          <a:xfrm>
            <a:off x="640080" y="1097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6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F99B492B-993C-FAF2-9453-72E4E4920954}"/>
              </a:ext>
            </a:extLst>
          </p:cNvPr>
          <p:cNvSpPr/>
          <p:nvPr/>
        </p:nvSpPr>
        <p:spPr>
          <a:xfrm>
            <a:off x="640080" y="1389888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complete functional &amp; non-functional requirements for the Mobile Network QoE Monitoring App — primary reference for dev team &amp; supervisors.</a:t>
            </a:r>
            <a:endParaRPr lang="en-US" sz="1200" dirty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36283503-102A-BB5A-E9F9-4CB99026E03F}"/>
              </a:ext>
            </a:extLst>
          </p:cNvPr>
          <p:cNvSpPr/>
          <p:nvPr/>
        </p:nvSpPr>
        <p:spPr>
          <a:xfrm>
            <a:off x="457200" y="2240280"/>
            <a:ext cx="4114800" cy="1097280"/>
          </a:xfrm>
          <a:prstGeom prst="rect">
            <a:avLst/>
          </a:prstGeom>
          <a:solidFill>
            <a:srgbClr val="FAFEFF"/>
          </a:solidFill>
          <a:ln w="7620">
            <a:solidFill>
              <a:srgbClr val="BBDEFB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9B87D0F4-D99C-19E1-A541-710D0BCD5278}"/>
              </a:ext>
            </a:extLst>
          </p:cNvPr>
          <p:cNvSpPr/>
          <p:nvPr/>
        </p:nvSpPr>
        <p:spPr>
          <a:xfrm>
            <a:off x="457200" y="2240280"/>
            <a:ext cx="64008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9104D0A2-399C-DEC1-9569-57245C7B9FDF}"/>
              </a:ext>
            </a:extLst>
          </p:cNvPr>
          <p:cNvSpPr/>
          <p:nvPr/>
        </p:nvSpPr>
        <p:spPr>
          <a:xfrm>
            <a:off x="640080" y="2331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6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FE43A3F1-DDA3-B33D-F060-7E56C7A7D56E}"/>
              </a:ext>
            </a:extLst>
          </p:cNvPr>
          <p:cNvSpPr/>
          <p:nvPr/>
        </p:nvSpPr>
        <p:spPr>
          <a:xfrm>
            <a:off x="640080" y="2624328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Android app running continuously in the background on subscriber devices, collecting objective metrics + subjective ratings, then syncing to a remote server.</a:t>
            </a:r>
            <a:endParaRPr lang="en-US" sz="120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122A91F9-8828-5EBD-FB8E-7B07EBCB2C72}"/>
              </a:ext>
            </a:extLst>
          </p:cNvPr>
          <p:cNvSpPr/>
          <p:nvPr/>
        </p:nvSpPr>
        <p:spPr>
          <a:xfrm>
            <a:off x="457200" y="3474720"/>
            <a:ext cx="4114800" cy="1097280"/>
          </a:xfrm>
          <a:prstGeom prst="rect">
            <a:avLst/>
          </a:prstGeom>
          <a:solidFill>
            <a:srgbClr val="FAFEFF"/>
          </a:solidFill>
          <a:ln w="7620">
            <a:solidFill>
              <a:srgbClr val="BBDEFB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92D013DF-0679-49D8-A361-504832A8F854}"/>
              </a:ext>
            </a:extLst>
          </p:cNvPr>
          <p:cNvSpPr/>
          <p:nvPr/>
        </p:nvSpPr>
        <p:spPr>
          <a:xfrm>
            <a:off x="457200" y="3474720"/>
            <a:ext cx="64008" cy="109728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A606DF1F-E0E3-542C-6D7F-E2FF21F28493}"/>
              </a:ext>
            </a:extLst>
          </p:cNvPr>
          <p:cNvSpPr/>
          <p:nvPr/>
        </p:nvSpPr>
        <p:spPr>
          <a:xfrm>
            <a:off x="640080" y="3566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Environment</a:t>
            </a:r>
            <a:endParaRPr lang="en-US" sz="16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F502B1BE-E34F-BE73-EDBD-F4AC04A38D60}"/>
              </a:ext>
            </a:extLst>
          </p:cNvPr>
          <p:cNvSpPr/>
          <p:nvPr/>
        </p:nvSpPr>
        <p:spPr>
          <a:xfrm>
            <a:off x="640080" y="3858768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8.0+, entry-level devices (Tecno, Itel, Infinix) to high-end, across 2G/3G/4G/LTE networks. Online and offline conditions. Urban, peri-urban &amp; rural Cameroon.</a:t>
            </a:r>
            <a:endParaRPr lang="en-US" sz="12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225584B0-8E7E-6937-75F3-516203B784A7}"/>
              </a:ext>
            </a:extLst>
          </p:cNvPr>
          <p:cNvSpPr/>
          <p:nvPr/>
        </p:nvSpPr>
        <p:spPr>
          <a:xfrm>
            <a:off x="4846320" y="10058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CLASSES</a:t>
            </a:r>
            <a:endParaRPr lang="en-US" sz="1200" dirty="0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209F39BB-BAB4-081D-A06C-E6B3F881E63F}"/>
              </a:ext>
            </a:extLst>
          </p:cNvPr>
          <p:cNvSpPr/>
          <p:nvPr/>
        </p:nvSpPr>
        <p:spPr>
          <a:xfrm>
            <a:off x="4846320" y="1325880"/>
            <a:ext cx="3931920" cy="713232"/>
          </a:xfrm>
          <a:prstGeom prst="rect">
            <a:avLst/>
          </a:prstGeom>
          <a:solidFill>
            <a:srgbClr val="F0F8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F35748FE-F003-9610-819D-FF34992F70B1}"/>
              </a:ext>
            </a:extLst>
          </p:cNvPr>
          <p:cNvSpPr/>
          <p:nvPr/>
        </p:nvSpPr>
        <p:spPr>
          <a:xfrm>
            <a:off x="4846320" y="1325880"/>
            <a:ext cx="54864" cy="7132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DFDB9F61-411B-9135-B5EE-FA8185CDA63D}"/>
              </a:ext>
            </a:extLst>
          </p:cNvPr>
          <p:cNvSpPr/>
          <p:nvPr/>
        </p:nvSpPr>
        <p:spPr>
          <a:xfrm>
            <a:off x="5010912" y="1399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Subscriber</a:t>
            </a:r>
            <a:endParaRPr lang="en-US" sz="160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7C80015D-8338-5A1A-D16F-A95B5B830B0D}"/>
              </a:ext>
            </a:extLst>
          </p:cNvPr>
          <p:cNvSpPr/>
          <p:nvPr/>
        </p:nvSpPr>
        <p:spPr>
          <a:xfrm>
            <a:off x="5010912" y="16733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Cameroonian phone users 18+</a:t>
            </a:r>
            <a:endParaRPr lang="en-US" sz="1200" dirty="0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8489EB44-FC23-C30C-7BAB-3C27CE2D38F0}"/>
              </a:ext>
            </a:extLst>
          </p:cNvPr>
          <p:cNvSpPr/>
          <p:nvPr/>
        </p:nvSpPr>
        <p:spPr>
          <a:xfrm>
            <a:off x="7635240" y="1527048"/>
            <a:ext cx="1051560" cy="3200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9477D8BD-C52B-74B5-8F04-73D7A7756110}"/>
              </a:ext>
            </a:extLst>
          </p:cNvPr>
          <p:cNvSpPr/>
          <p:nvPr/>
        </p:nvSpPr>
        <p:spPr>
          <a:xfrm>
            <a:off x="7635240" y="152704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</a:t>
            </a:r>
            <a:endParaRPr lang="en-US" sz="1100" dirty="0"/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4755B24E-347F-1A2C-B64E-C7D53F1A6DDB}"/>
              </a:ext>
            </a:extLst>
          </p:cNvPr>
          <p:cNvSpPr/>
          <p:nvPr/>
        </p:nvSpPr>
        <p:spPr>
          <a:xfrm>
            <a:off x="4846320" y="2167128"/>
            <a:ext cx="3931920" cy="713232"/>
          </a:xfrm>
          <a:prstGeom prst="rect">
            <a:avLst/>
          </a:prstGeom>
          <a:solidFill>
            <a:srgbClr val="FAFAFA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53E50727-951E-07C6-A61D-10C38B632F25}"/>
              </a:ext>
            </a:extLst>
          </p:cNvPr>
          <p:cNvSpPr/>
          <p:nvPr/>
        </p:nvSpPr>
        <p:spPr>
          <a:xfrm>
            <a:off x="4846320" y="2167128"/>
            <a:ext cx="54864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224B31A4-21A2-D0A2-9D47-AACC2437B57F}"/>
              </a:ext>
            </a:extLst>
          </p:cNvPr>
          <p:cNvSpPr/>
          <p:nvPr/>
        </p:nvSpPr>
        <p:spPr>
          <a:xfrm>
            <a:off x="5010912" y="2240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Operator Analyst</a:t>
            </a:r>
            <a:endParaRPr lang="en-US" sz="1600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0F8EB01C-1D2D-8FB1-1DF0-A749B5D29A04}"/>
              </a:ext>
            </a:extLst>
          </p:cNvPr>
          <p:cNvSpPr/>
          <p:nvPr/>
        </p:nvSpPr>
        <p:spPr>
          <a:xfrm>
            <a:off x="5010912" y="2514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MTN, Orange, Camtel — accesses backend data</a:t>
            </a:r>
            <a:endParaRPr lang="en-US" sz="1200" dirty="0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098DB47F-4BF0-76AA-5CAA-15404A4D3D33}"/>
              </a:ext>
            </a:extLst>
          </p:cNvPr>
          <p:cNvSpPr/>
          <p:nvPr/>
        </p:nvSpPr>
        <p:spPr>
          <a:xfrm>
            <a:off x="7635240" y="2368296"/>
            <a:ext cx="105156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79E29444-0FCC-1E6C-8D07-BD72425D77A3}"/>
              </a:ext>
            </a:extLst>
          </p:cNvPr>
          <p:cNvSpPr/>
          <p:nvPr/>
        </p:nvSpPr>
        <p:spPr>
          <a:xfrm>
            <a:off x="7635240" y="2368296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9" name="Shape 28">
            <a:extLst>
              <a:ext uri="{FF2B5EF4-FFF2-40B4-BE49-F238E27FC236}">
                <a16:creationId xmlns:a16="http://schemas.microsoft.com/office/drawing/2014/main" id="{FABBBEF6-4C7B-D4E3-1CDF-368436F0599E}"/>
              </a:ext>
            </a:extLst>
          </p:cNvPr>
          <p:cNvSpPr/>
          <p:nvPr/>
        </p:nvSpPr>
        <p:spPr>
          <a:xfrm>
            <a:off x="4846320" y="3008376"/>
            <a:ext cx="3931920" cy="713232"/>
          </a:xfrm>
          <a:prstGeom prst="rect">
            <a:avLst/>
          </a:prstGeom>
          <a:solidFill>
            <a:srgbClr val="F0F8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9ED73D21-8B8B-3A1E-7F27-4D97C4721C67}"/>
              </a:ext>
            </a:extLst>
          </p:cNvPr>
          <p:cNvSpPr/>
          <p:nvPr/>
        </p:nvSpPr>
        <p:spPr>
          <a:xfrm>
            <a:off x="4846320" y="3008376"/>
            <a:ext cx="54864" cy="71323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3E5B8BA9-D68F-0B77-4735-1CB5C79DDE6E}"/>
              </a:ext>
            </a:extLst>
          </p:cNvPr>
          <p:cNvSpPr/>
          <p:nvPr/>
        </p:nvSpPr>
        <p:spPr>
          <a:xfrm>
            <a:off x="5010912" y="30815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/ Administrator</a:t>
            </a:r>
            <a:endParaRPr lang="en-US" sz="1600" dirty="0"/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2EBACA16-3CFE-C119-BBE4-A041BD26A5B2}"/>
              </a:ext>
            </a:extLst>
          </p:cNvPr>
          <p:cNvSpPr/>
          <p:nvPr/>
        </p:nvSpPr>
        <p:spPr>
          <a:xfrm>
            <a:off x="5010912" y="3355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Builds, deploys and maintains the system</a:t>
            </a:r>
            <a:endParaRPr lang="en-US" sz="1200" dirty="0"/>
          </a:p>
        </p:txBody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01615603-8E69-3142-D19B-7C7E246E0E82}"/>
              </a:ext>
            </a:extLst>
          </p:cNvPr>
          <p:cNvSpPr/>
          <p:nvPr/>
        </p:nvSpPr>
        <p:spPr>
          <a:xfrm>
            <a:off x="7635240" y="3209544"/>
            <a:ext cx="1051560" cy="32004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73A745A9-47AE-AFF2-EAE8-38CA7B502570}"/>
              </a:ext>
            </a:extLst>
          </p:cNvPr>
          <p:cNvSpPr/>
          <p:nvPr/>
        </p:nvSpPr>
        <p:spPr>
          <a:xfrm>
            <a:off x="7635240" y="3209544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35" name="Text 34">
            <a:extLst>
              <a:ext uri="{FF2B5EF4-FFF2-40B4-BE49-F238E27FC236}">
                <a16:creationId xmlns:a16="http://schemas.microsoft.com/office/drawing/2014/main" id="{701E7CD4-352F-04C0-3B6B-25DF1DC988AF}"/>
              </a:ext>
            </a:extLst>
          </p:cNvPr>
          <p:cNvSpPr/>
          <p:nvPr/>
        </p:nvSpPr>
        <p:spPr>
          <a:xfrm>
            <a:off x="4846320" y="38862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CONSTRAINTS</a:t>
            </a:r>
            <a:endParaRPr lang="en-US" sz="1200" dirty="0"/>
          </a:p>
        </p:txBody>
      </p:sp>
      <p:sp>
        <p:nvSpPr>
          <p:cNvPr id="36" name="Shape 35">
            <a:extLst>
              <a:ext uri="{FF2B5EF4-FFF2-40B4-BE49-F238E27FC236}">
                <a16:creationId xmlns:a16="http://schemas.microsoft.com/office/drawing/2014/main" id="{86EB57CA-D96E-5773-F3CD-D2C302B8616F}"/>
              </a:ext>
            </a:extLst>
          </p:cNvPr>
          <p:cNvSpPr/>
          <p:nvPr/>
        </p:nvSpPr>
        <p:spPr>
          <a:xfrm>
            <a:off x="4846320" y="4160520"/>
            <a:ext cx="3931920" cy="685800"/>
          </a:xfrm>
          <a:prstGeom prst="rect">
            <a:avLst/>
          </a:prstGeom>
          <a:solidFill>
            <a:srgbClr val="EBF5FB"/>
          </a:solidFill>
          <a:ln w="6350">
            <a:solidFill>
              <a:srgbClr val="90CAF9"/>
            </a:solidFill>
            <a:prstDash val="solid"/>
          </a:ln>
        </p:spPr>
      </p:sp>
      <p:sp>
        <p:nvSpPr>
          <p:cNvPr id="37" name="Text 36">
            <a:extLst>
              <a:ext uri="{FF2B5EF4-FFF2-40B4-BE49-F238E27FC236}">
                <a16:creationId xmlns:a16="http://schemas.microsoft.com/office/drawing/2014/main" id="{F4BD966F-40FA-FA6E-514A-464EE6C3CD5C}"/>
              </a:ext>
            </a:extLst>
          </p:cNvPr>
          <p:cNvSpPr/>
          <p:nvPr/>
        </p:nvSpPr>
        <p:spPr>
          <a:xfrm>
            <a:off x="4937760" y="4187952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Android only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2GB RAM · HTTPS/TLS 1.2+ encryption · No PII collected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user consent before any data collection</a:t>
            </a:r>
            <a:endParaRPr lang="en-US" sz="1200" dirty="0"/>
          </a:p>
        </p:txBody>
      </p:sp>
      <p:sp>
        <p:nvSpPr>
          <p:cNvPr id="38" name="Shape 0">
            <a:extLst>
              <a:ext uri="{FF2B5EF4-FFF2-40B4-BE49-F238E27FC236}">
                <a16:creationId xmlns:a16="http://schemas.microsoft.com/office/drawing/2014/main" id="{BC53AAFA-88FC-9ABB-2AC8-2AB6DFF0B9BF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6DD74DB-A7DE-E9D4-5BAE-43A8B76E5392}"/>
              </a:ext>
            </a:extLst>
          </p:cNvPr>
          <p:cNvSpPr txBox="1"/>
          <p:nvPr/>
        </p:nvSpPr>
        <p:spPr>
          <a:xfrm>
            <a:off x="8686800" y="192024"/>
            <a:ext cx="495300" cy="373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13</a:t>
            </a:r>
            <a:endParaRPr lang="en-CM" b="1" dirty="0"/>
          </a:p>
        </p:txBody>
      </p:sp>
    </p:spTree>
    <p:extLst>
      <p:ext uri="{BB962C8B-B14F-4D97-AF65-F5344CB8AC3E}">
        <p14:creationId xmlns:p14="http://schemas.microsoft.com/office/powerpoint/2010/main" val="4252147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20BC99B-F64F-83A3-BA6A-194C29F9BA66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4F74A97-CA24-BC99-EDF7-7BF0831F9983}"/>
              </a:ext>
            </a:extLst>
          </p:cNvPr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SRS: Use Cases, Data &amp; Validation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1847629-D94B-5C3A-6D04-3CFE0297EF84}"/>
              </a:ext>
            </a:extLst>
          </p:cNvPr>
          <p:cNvSpPr/>
          <p:nvPr/>
        </p:nvSpPr>
        <p:spPr>
          <a:xfrm>
            <a:off x="457200" y="7498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EF7AD0E-4A39-DCA3-EE72-39984F59BD36}"/>
              </a:ext>
            </a:extLst>
          </p:cNvPr>
          <p:cNvSpPr/>
          <p:nvPr/>
        </p:nvSpPr>
        <p:spPr>
          <a:xfrm>
            <a:off x="457200" y="1051560"/>
            <a:ext cx="4023360" cy="777240"/>
          </a:xfrm>
          <a:prstGeom prst="rect">
            <a:avLst/>
          </a:prstGeom>
          <a:solidFill>
            <a:srgbClr val="F0F8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CAE883C-03F7-678B-2E6A-584108B68DA5}"/>
              </a:ext>
            </a:extLst>
          </p:cNvPr>
          <p:cNvSpPr/>
          <p:nvPr/>
        </p:nvSpPr>
        <p:spPr>
          <a:xfrm>
            <a:off x="457200" y="1051560"/>
            <a:ext cx="640080" cy="7772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FC3C546-0042-216A-5222-E8799616DCB3}"/>
              </a:ext>
            </a:extLst>
          </p:cNvPr>
          <p:cNvSpPr/>
          <p:nvPr/>
        </p:nvSpPr>
        <p:spPr>
          <a:xfrm>
            <a:off x="457200" y="105156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UC-01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CAC782C-7144-A8F9-D45C-D4127913B5F3}"/>
              </a:ext>
            </a:extLst>
          </p:cNvPr>
          <p:cNvSpPr/>
          <p:nvPr/>
        </p:nvSpPr>
        <p:spPr>
          <a:xfrm>
            <a:off x="1188720" y="1124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Onboard</a:t>
            </a:r>
            <a:endParaRPr lang="en-US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A5E2E55-F665-A602-285C-F06BA9782BCD}"/>
              </a:ext>
            </a:extLst>
          </p:cNvPr>
          <p:cNvSpPr/>
          <p:nvPr/>
        </p:nvSpPr>
        <p:spPr>
          <a:xfrm>
            <a:off x="1188720" y="14356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notice → permissions → language → mode selection → dashboard</a:t>
            </a:r>
            <a:endParaRPr lang="en-US" sz="14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75A8BE7-FC1A-677B-667F-E288DE9B6128}"/>
              </a:ext>
            </a:extLst>
          </p:cNvPr>
          <p:cNvSpPr/>
          <p:nvPr/>
        </p:nvSpPr>
        <p:spPr>
          <a:xfrm>
            <a:off x="457200" y="1965960"/>
            <a:ext cx="4023360" cy="777240"/>
          </a:xfrm>
          <a:prstGeom prst="rect">
            <a:avLst/>
          </a:prstGeom>
          <a:solidFill>
            <a:srgbClr val="FAFAFA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7778D75-F8DF-E129-93E4-9D5D021635B7}"/>
              </a:ext>
            </a:extLst>
          </p:cNvPr>
          <p:cNvSpPr/>
          <p:nvPr/>
        </p:nvSpPr>
        <p:spPr>
          <a:xfrm>
            <a:off x="457200" y="1965960"/>
            <a:ext cx="640080" cy="7772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7B5696E-9356-2EA9-6701-E156217D90B2}"/>
              </a:ext>
            </a:extLst>
          </p:cNvPr>
          <p:cNvSpPr/>
          <p:nvPr/>
        </p:nvSpPr>
        <p:spPr>
          <a:xfrm>
            <a:off x="457200" y="196596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UC-02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C095133-AE0B-9D38-35D8-6A4C9453C99D}"/>
              </a:ext>
            </a:extLst>
          </p:cNvPr>
          <p:cNvSpPr/>
          <p:nvPr/>
        </p:nvSpPr>
        <p:spPr>
          <a:xfrm>
            <a:off x="1188720" y="2039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Monitoring</a:t>
            </a:r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26CA6DD-D620-4188-7A7F-7274FA63678A}"/>
              </a:ext>
            </a:extLst>
          </p:cNvPr>
          <p:cNvSpPr/>
          <p:nvPr/>
        </p:nvSpPr>
        <p:spPr>
          <a:xfrm>
            <a:off x="1188720" y="2350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 min: collect metrics, GPS tag, timestamp, store locally, queue sync</a:t>
            </a:r>
            <a:endParaRPr lang="en-US" sz="14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3057D0E-C633-E707-5A47-CC3CEBF8B165}"/>
              </a:ext>
            </a:extLst>
          </p:cNvPr>
          <p:cNvSpPr/>
          <p:nvPr/>
        </p:nvSpPr>
        <p:spPr>
          <a:xfrm>
            <a:off x="457200" y="2880360"/>
            <a:ext cx="4023360" cy="777240"/>
          </a:xfrm>
          <a:prstGeom prst="rect">
            <a:avLst/>
          </a:prstGeom>
          <a:solidFill>
            <a:srgbClr val="F0F8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703B02C-A690-D4EA-393B-E2ADDC8DC3ED}"/>
              </a:ext>
            </a:extLst>
          </p:cNvPr>
          <p:cNvSpPr/>
          <p:nvPr/>
        </p:nvSpPr>
        <p:spPr>
          <a:xfrm>
            <a:off x="457200" y="2880360"/>
            <a:ext cx="640080" cy="7772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50620AE-933B-060F-64F2-77218DD1C2A1}"/>
              </a:ext>
            </a:extLst>
          </p:cNvPr>
          <p:cNvSpPr/>
          <p:nvPr/>
        </p:nvSpPr>
        <p:spPr>
          <a:xfrm>
            <a:off x="457200" y="288036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UC-03</a:t>
            </a:r>
            <a:endParaRPr lang="en-US" sz="1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F7FB80D-6E35-EC95-FCF5-C31ADDC4E290}"/>
              </a:ext>
            </a:extLst>
          </p:cNvPr>
          <p:cNvSpPr/>
          <p:nvPr/>
        </p:nvSpPr>
        <p:spPr>
          <a:xfrm>
            <a:off x="1188720" y="2953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 Feedback Prompt</a:t>
            </a:r>
            <a:endParaRPr lang="en-US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9193660-728B-8598-21FF-6C5470FF5ED0}"/>
              </a:ext>
            </a:extLst>
          </p:cNvPr>
          <p:cNvSpPr/>
          <p:nvPr/>
        </p:nvSpPr>
        <p:spPr>
          <a:xfrm>
            <a:off x="1188720" y="3264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→ rate 1–5 → optional note → log rating + metrics together</a:t>
            </a:r>
            <a:endParaRPr lang="en-US" sz="14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BD7E502-D78D-9CC0-2DF2-3A47956462DD}"/>
              </a:ext>
            </a:extLst>
          </p:cNvPr>
          <p:cNvSpPr/>
          <p:nvPr/>
        </p:nvSpPr>
        <p:spPr>
          <a:xfrm>
            <a:off x="457200" y="3794760"/>
            <a:ext cx="4023360" cy="777240"/>
          </a:xfrm>
          <a:prstGeom prst="rect">
            <a:avLst/>
          </a:prstGeom>
          <a:solidFill>
            <a:srgbClr val="FAFAFA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E15A624-3E68-C058-5A10-6FEC41E5592D}"/>
              </a:ext>
            </a:extLst>
          </p:cNvPr>
          <p:cNvSpPr/>
          <p:nvPr/>
        </p:nvSpPr>
        <p:spPr>
          <a:xfrm>
            <a:off x="457200" y="3794760"/>
            <a:ext cx="640080" cy="7772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7734B3D-493D-9461-C7F2-90CA14513F65}"/>
              </a:ext>
            </a:extLst>
          </p:cNvPr>
          <p:cNvSpPr/>
          <p:nvPr/>
        </p:nvSpPr>
        <p:spPr>
          <a:xfrm>
            <a:off x="457200" y="379476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UC-04</a:t>
            </a:r>
            <a:endParaRPr lang="en-US" sz="12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26F91A5-91C6-4212-69B9-3C509C857E21}"/>
              </a:ext>
            </a:extLst>
          </p:cNvPr>
          <p:cNvSpPr/>
          <p:nvPr/>
        </p:nvSpPr>
        <p:spPr>
          <a:xfrm>
            <a:off x="1188720" y="38679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Dashboard &amp; History</a:t>
            </a:r>
            <a:endParaRPr lang="en-US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9C6216D-2450-C9F0-F213-F797EE1E4520}"/>
              </a:ext>
            </a:extLst>
          </p:cNvPr>
          <p:cNvSpPr/>
          <p:nvPr/>
        </p:nvSpPr>
        <p:spPr>
          <a:xfrm>
            <a:off x="1188720" y="41788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 → 7/30-day graph → coverage map with colour-coded signal</a:t>
            </a:r>
            <a:endParaRPr lang="en-US" sz="14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657D9F6-4F30-14EA-1E3C-ECF67BC944E1}"/>
              </a:ext>
            </a:extLst>
          </p:cNvPr>
          <p:cNvSpPr/>
          <p:nvPr/>
        </p:nvSpPr>
        <p:spPr>
          <a:xfrm>
            <a:off x="4754880" y="7498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FIELDS</a:t>
            </a:r>
            <a:endParaRPr lang="en-US" sz="14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8B008E73-CD2E-B41E-ACDD-83C54A5FD070}"/>
              </a:ext>
            </a:extLst>
          </p:cNvPr>
          <p:cNvSpPr/>
          <p:nvPr/>
        </p:nvSpPr>
        <p:spPr>
          <a:xfrm>
            <a:off x="4754880" y="1051560"/>
            <a:ext cx="4023360" cy="2926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3317C12-A4A1-075D-C351-020E7B981D1F}"/>
              </a:ext>
            </a:extLst>
          </p:cNvPr>
          <p:cNvSpPr/>
          <p:nvPr/>
        </p:nvSpPr>
        <p:spPr>
          <a:xfrm>
            <a:off x="4754880" y="1051560"/>
            <a:ext cx="15544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4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B8C1E76-6048-9914-3DC1-CD716EEFD9E7}"/>
              </a:ext>
            </a:extLst>
          </p:cNvPr>
          <p:cNvSpPr/>
          <p:nvPr/>
        </p:nvSpPr>
        <p:spPr>
          <a:xfrm>
            <a:off x="6309360" y="1051560"/>
            <a:ext cx="8229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4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A8ECC18-2746-8FC6-199B-703D7186D4AA}"/>
              </a:ext>
            </a:extLst>
          </p:cNvPr>
          <p:cNvSpPr/>
          <p:nvPr/>
        </p:nvSpPr>
        <p:spPr>
          <a:xfrm>
            <a:off x="7132320" y="1051560"/>
            <a:ext cx="164592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4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2661421-0EDA-904B-57BE-7139104FBCE9}"/>
              </a:ext>
            </a:extLst>
          </p:cNvPr>
          <p:cNvSpPr/>
          <p:nvPr/>
        </p:nvSpPr>
        <p:spPr>
          <a:xfrm>
            <a:off x="4754880" y="1344168"/>
            <a:ext cx="4023360" cy="274320"/>
          </a:xfrm>
          <a:prstGeom prst="rect">
            <a:avLst/>
          </a:prstGeom>
          <a:solidFill>
            <a:srgbClr val="EBF5FB"/>
          </a:solidFill>
          <a:ln w="5080">
            <a:solidFill>
              <a:srgbClr val="DDECF7"/>
            </a:solidFill>
            <a:prstDash val="solid"/>
          </a:ln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235440B-48A0-6BFF-62C7-554B93C42FFF}"/>
              </a:ext>
            </a:extLst>
          </p:cNvPr>
          <p:cNvSpPr/>
          <p:nvPr/>
        </p:nvSpPr>
        <p:spPr>
          <a:xfrm>
            <a:off x="4773168" y="1344168"/>
            <a:ext cx="153619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reading_id</a:t>
            </a:r>
            <a:endParaRPr lang="en-US" sz="12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61F41D11-0DA2-7459-DBEB-48836D9D22B4}"/>
              </a:ext>
            </a:extLst>
          </p:cNvPr>
          <p:cNvSpPr/>
          <p:nvPr/>
        </p:nvSpPr>
        <p:spPr>
          <a:xfrm>
            <a:off x="6309360" y="1344168"/>
            <a:ext cx="80467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12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ABE9824A-AFAF-7B97-D58A-71089E5CA52C}"/>
              </a:ext>
            </a:extLst>
          </p:cNvPr>
          <p:cNvSpPr/>
          <p:nvPr/>
        </p:nvSpPr>
        <p:spPr>
          <a:xfrm>
            <a:off x="7132320" y="1344168"/>
            <a:ext cx="162763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record identifier</a:t>
            </a:r>
            <a:endParaRPr lang="en-US" sz="12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1F6C6E6B-E4D0-5A09-F3A1-7C04DABB0BE6}"/>
              </a:ext>
            </a:extLst>
          </p:cNvPr>
          <p:cNvSpPr/>
          <p:nvPr/>
        </p:nvSpPr>
        <p:spPr>
          <a:xfrm>
            <a:off x="4754880" y="1645920"/>
            <a:ext cx="4023360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DECF7"/>
            </a:solidFill>
            <a:prstDash val="solid"/>
          </a:ln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94F19F72-5241-9E1E-9A53-9830DD60B32C}"/>
              </a:ext>
            </a:extLst>
          </p:cNvPr>
          <p:cNvSpPr/>
          <p:nvPr/>
        </p:nvSpPr>
        <p:spPr>
          <a:xfrm>
            <a:off x="4773168" y="1645920"/>
            <a:ext cx="153619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signal_strength</a:t>
            </a:r>
            <a:endParaRPr lang="en-US" sz="12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8B7832D0-ED4F-018A-021E-03796065CFEA}"/>
              </a:ext>
            </a:extLst>
          </p:cNvPr>
          <p:cNvSpPr/>
          <p:nvPr/>
        </p:nvSpPr>
        <p:spPr>
          <a:xfrm>
            <a:off x="6309360" y="1645920"/>
            <a:ext cx="80467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</a:t>
            </a:r>
            <a:endParaRPr lang="en-US" sz="12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75C8AF6B-4F75-CE68-2DC5-F33AAEEB85E7}"/>
              </a:ext>
            </a:extLst>
          </p:cNvPr>
          <p:cNvSpPr/>
          <p:nvPr/>
        </p:nvSpPr>
        <p:spPr>
          <a:xfrm>
            <a:off x="7132320" y="1645920"/>
            <a:ext cx="162763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RSSI at time of reading</a:t>
            </a:r>
            <a:endParaRPr lang="en-US" sz="12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1E423524-395C-6CC4-BAFE-04051CD6E159}"/>
              </a:ext>
            </a:extLst>
          </p:cNvPr>
          <p:cNvSpPr/>
          <p:nvPr/>
        </p:nvSpPr>
        <p:spPr>
          <a:xfrm>
            <a:off x="4754880" y="1947672"/>
            <a:ext cx="4023360" cy="274320"/>
          </a:xfrm>
          <a:prstGeom prst="rect">
            <a:avLst/>
          </a:prstGeom>
          <a:solidFill>
            <a:srgbClr val="EBF5FB"/>
          </a:solidFill>
          <a:ln w="5080">
            <a:solidFill>
              <a:srgbClr val="DDECF7"/>
            </a:solidFill>
            <a:prstDash val="solid"/>
          </a:ln>
        </p:spPr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77EA5AE5-43F4-BE70-3B55-C946E882D06C}"/>
              </a:ext>
            </a:extLst>
          </p:cNvPr>
          <p:cNvSpPr/>
          <p:nvPr/>
        </p:nvSpPr>
        <p:spPr>
          <a:xfrm>
            <a:off x="4773168" y="1947672"/>
            <a:ext cx="153619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2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9762CFAC-B4AB-6C53-D954-453CD10A6B94}"/>
              </a:ext>
            </a:extLst>
          </p:cNvPr>
          <p:cNvSpPr/>
          <p:nvPr/>
        </p:nvSpPr>
        <p:spPr>
          <a:xfrm>
            <a:off x="6309360" y="1947672"/>
            <a:ext cx="80467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2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98318092-313C-2010-A288-055A4A10D054}"/>
              </a:ext>
            </a:extLst>
          </p:cNvPr>
          <p:cNvSpPr/>
          <p:nvPr/>
        </p:nvSpPr>
        <p:spPr>
          <a:xfrm>
            <a:off x="7132320" y="1947672"/>
            <a:ext cx="162763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 ping delay</a:t>
            </a:r>
            <a:endParaRPr lang="en-US" sz="12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42819D23-ED7D-D1DF-42CB-1B20CCFA058D}"/>
              </a:ext>
            </a:extLst>
          </p:cNvPr>
          <p:cNvSpPr/>
          <p:nvPr/>
        </p:nvSpPr>
        <p:spPr>
          <a:xfrm>
            <a:off x="4754880" y="2249424"/>
            <a:ext cx="4023360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DECF7"/>
            </a:solidFill>
            <a:prstDash val="solid"/>
          </a:ln>
        </p:spPr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B36B3336-0BCB-A877-1A21-D0E9EDEB3175}"/>
              </a:ext>
            </a:extLst>
          </p:cNvPr>
          <p:cNvSpPr/>
          <p:nvPr/>
        </p:nvSpPr>
        <p:spPr>
          <a:xfrm>
            <a:off x="4773168" y="2249424"/>
            <a:ext cx="153619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qoe_score</a:t>
            </a:r>
            <a:endParaRPr lang="en-US" sz="12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2CAD7D71-8669-56DC-8A30-199FFD3992D2}"/>
              </a:ext>
            </a:extLst>
          </p:cNvPr>
          <p:cNvSpPr/>
          <p:nvPr/>
        </p:nvSpPr>
        <p:spPr>
          <a:xfrm>
            <a:off x="6309360" y="2249424"/>
            <a:ext cx="80467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</a:t>
            </a:r>
            <a:endParaRPr lang="en-US" sz="12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54B8F24C-6D2D-38C1-9380-48B1A5D0ED9D}"/>
              </a:ext>
            </a:extLst>
          </p:cNvPr>
          <p:cNvSpPr/>
          <p:nvPr/>
        </p:nvSpPr>
        <p:spPr>
          <a:xfrm>
            <a:off x="7132320" y="2249424"/>
            <a:ext cx="162763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QoE calculation</a:t>
            </a:r>
            <a:endParaRPr lang="en-US" sz="120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353E711B-682B-083D-2C5F-BEF8821250B6}"/>
              </a:ext>
            </a:extLst>
          </p:cNvPr>
          <p:cNvSpPr/>
          <p:nvPr/>
        </p:nvSpPr>
        <p:spPr>
          <a:xfrm>
            <a:off x="4754880" y="2551176"/>
            <a:ext cx="4023360" cy="274320"/>
          </a:xfrm>
          <a:prstGeom prst="rect">
            <a:avLst/>
          </a:prstGeom>
          <a:solidFill>
            <a:srgbClr val="EBF5FB"/>
          </a:solidFill>
          <a:ln w="5080">
            <a:solidFill>
              <a:srgbClr val="DDECF7"/>
            </a:solidFill>
            <a:prstDash val="solid"/>
          </a:ln>
        </p:spPr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1E37F464-E3A8-1464-4458-CCAB7B4E76E2}"/>
              </a:ext>
            </a:extLst>
          </p:cNvPr>
          <p:cNvSpPr/>
          <p:nvPr/>
        </p:nvSpPr>
        <p:spPr>
          <a:xfrm>
            <a:off x="4773168" y="2551176"/>
            <a:ext cx="153619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user_rating</a:t>
            </a:r>
            <a:endParaRPr lang="en-US" sz="120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82AD19FB-52B0-C81D-C1BB-2D01A748C4BF}"/>
              </a:ext>
            </a:extLst>
          </p:cNvPr>
          <p:cNvSpPr/>
          <p:nvPr/>
        </p:nvSpPr>
        <p:spPr>
          <a:xfrm>
            <a:off x="6309360" y="2551176"/>
            <a:ext cx="80467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</a:t>
            </a:r>
            <a:endParaRPr lang="en-US" sz="120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2A1E9135-B36A-9C63-11F1-877D33701A19}"/>
              </a:ext>
            </a:extLst>
          </p:cNvPr>
          <p:cNvSpPr/>
          <p:nvPr/>
        </p:nvSpPr>
        <p:spPr>
          <a:xfrm>
            <a:off x="7132320" y="2551176"/>
            <a:ext cx="162763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satisfaction</a:t>
            </a:r>
            <a:endParaRPr lang="en-US" sz="120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3806F83F-BD51-7312-10D1-D086A405810F}"/>
              </a:ext>
            </a:extLst>
          </p:cNvPr>
          <p:cNvSpPr/>
          <p:nvPr/>
        </p:nvSpPr>
        <p:spPr>
          <a:xfrm>
            <a:off x="4754880" y="2852928"/>
            <a:ext cx="4023360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DECF7"/>
            </a:solidFill>
            <a:prstDash val="solid"/>
          </a:ln>
        </p:spPr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81B81FCE-3908-9BBA-B68E-32378A202D2D}"/>
              </a:ext>
            </a:extLst>
          </p:cNvPr>
          <p:cNvSpPr/>
          <p:nvPr/>
        </p:nvSpPr>
        <p:spPr>
          <a:xfrm>
            <a:off x="4773168" y="2852928"/>
            <a:ext cx="153619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 / longitude</a:t>
            </a:r>
            <a:endParaRPr lang="en-US" sz="1200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A0842757-8CB5-05CD-A43E-AD881E208524}"/>
              </a:ext>
            </a:extLst>
          </p:cNvPr>
          <p:cNvSpPr/>
          <p:nvPr/>
        </p:nvSpPr>
        <p:spPr>
          <a:xfrm>
            <a:off x="6309360" y="2852928"/>
            <a:ext cx="80467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±500m</a:t>
            </a:r>
            <a:endParaRPr lang="en-US" sz="12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EBF608ED-30A4-F368-8358-2214488DDEDE}"/>
              </a:ext>
            </a:extLst>
          </p:cNvPr>
          <p:cNvSpPr/>
          <p:nvPr/>
        </p:nvSpPr>
        <p:spPr>
          <a:xfrm>
            <a:off x="7132320" y="2852928"/>
            <a:ext cx="162763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Anonymised approximate GPS</a:t>
            </a:r>
            <a:endParaRPr lang="en-US" sz="12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08D2074A-D47D-76DB-18C7-CC7D43B38A19}"/>
              </a:ext>
            </a:extLst>
          </p:cNvPr>
          <p:cNvSpPr/>
          <p:nvPr/>
        </p:nvSpPr>
        <p:spPr>
          <a:xfrm>
            <a:off x="4754880" y="3154680"/>
            <a:ext cx="4023360" cy="274320"/>
          </a:xfrm>
          <a:prstGeom prst="rect">
            <a:avLst/>
          </a:prstGeom>
          <a:solidFill>
            <a:srgbClr val="EBF5FB"/>
          </a:solidFill>
          <a:ln w="5080">
            <a:solidFill>
              <a:srgbClr val="DDECF7"/>
            </a:solidFill>
            <a:prstDash val="solid"/>
          </a:ln>
        </p:spPr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ED34E366-6E37-3206-D950-7832D34CAA06}"/>
              </a:ext>
            </a:extLst>
          </p:cNvPr>
          <p:cNvSpPr/>
          <p:nvPr/>
        </p:nvSpPr>
        <p:spPr>
          <a:xfrm>
            <a:off x="4773168" y="3154680"/>
            <a:ext cx="153619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is_drop_event</a:t>
            </a:r>
            <a:endParaRPr lang="en-US" sz="120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81AB08A6-946B-CA13-C1C9-DA645A916013}"/>
              </a:ext>
            </a:extLst>
          </p:cNvPr>
          <p:cNvSpPr/>
          <p:nvPr/>
        </p:nvSpPr>
        <p:spPr>
          <a:xfrm>
            <a:off x="6309360" y="3154680"/>
            <a:ext cx="80467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1200" dirty="0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1515083E-DEB2-B29E-BDDB-838921C4D305}"/>
              </a:ext>
            </a:extLst>
          </p:cNvPr>
          <p:cNvSpPr/>
          <p:nvPr/>
        </p:nvSpPr>
        <p:spPr>
          <a:xfrm>
            <a:off x="7132320" y="3154680"/>
            <a:ext cx="162763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network drop</a:t>
            </a:r>
            <a:endParaRPr lang="en-US" sz="120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A89B7410-DF7F-D1E6-18DC-02A9C100786B}"/>
              </a:ext>
            </a:extLst>
          </p:cNvPr>
          <p:cNvSpPr/>
          <p:nvPr/>
        </p:nvSpPr>
        <p:spPr>
          <a:xfrm>
            <a:off x="4754880" y="3456432"/>
            <a:ext cx="4023360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DECF7"/>
            </a:solidFill>
            <a:prstDash val="solid"/>
          </a:ln>
        </p:spPr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24A00B93-328F-BF1E-8DC9-5B75AC3D0BB4}"/>
              </a:ext>
            </a:extLst>
          </p:cNvPr>
          <p:cNvSpPr/>
          <p:nvPr/>
        </p:nvSpPr>
        <p:spPr>
          <a:xfrm>
            <a:off x="4773168" y="3456432"/>
            <a:ext cx="153619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synced_to_server</a:t>
            </a:r>
            <a:endParaRPr lang="en-US" sz="1200" dirty="0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8E5458D0-5C70-89E3-2374-F684642607B5}"/>
              </a:ext>
            </a:extLst>
          </p:cNvPr>
          <p:cNvSpPr/>
          <p:nvPr/>
        </p:nvSpPr>
        <p:spPr>
          <a:xfrm>
            <a:off x="6309360" y="3456432"/>
            <a:ext cx="80467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1200" dirty="0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6E704835-F89F-AE38-5485-12F492935A9C}"/>
              </a:ext>
            </a:extLst>
          </p:cNvPr>
          <p:cNvSpPr/>
          <p:nvPr/>
        </p:nvSpPr>
        <p:spPr>
          <a:xfrm>
            <a:off x="7132320" y="3456432"/>
            <a:ext cx="162763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sync status flag</a:t>
            </a:r>
            <a:endParaRPr lang="en-US" sz="1200" dirty="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4965336E-60C6-0BC6-AB67-FDE4E52C1FAB}"/>
              </a:ext>
            </a:extLst>
          </p:cNvPr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solidFill>
            <a:srgbClr val="E8F5E9"/>
          </a:solidFill>
          <a:ln w="7620">
            <a:solidFill>
              <a:srgbClr val="A5D6A7"/>
            </a:solidFill>
            <a:prstDash val="solid"/>
          </a:ln>
        </p:spPr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148391AE-C106-383B-1BD0-A2F6E144AA86}"/>
              </a:ext>
            </a:extLst>
          </p:cNvPr>
          <p:cNvSpPr/>
          <p:nvPr/>
        </p:nvSpPr>
        <p:spPr>
          <a:xfrm>
            <a:off x="548640" y="47274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All FRs traceable to survey  ✔ No contradictions found  ✔ Confirmed against ITU-T QoE standards 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20 FRs + 20 NFRs fully documented</a:t>
            </a:r>
            <a:endParaRPr lang="en-US" sz="1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7EFD316-978E-2801-9DAE-7852766335CC}"/>
              </a:ext>
            </a:extLst>
          </p:cNvPr>
          <p:cNvSpPr txBox="1"/>
          <p:nvPr/>
        </p:nvSpPr>
        <p:spPr>
          <a:xfrm>
            <a:off x="8595360" y="198120"/>
            <a:ext cx="495300" cy="373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14</a:t>
            </a:r>
            <a:endParaRPr lang="en-CM" b="1" dirty="0"/>
          </a:p>
        </p:txBody>
      </p:sp>
    </p:spTree>
    <p:extLst>
      <p:ext uri="{BB962C8B-B14F-4D97-AF65-F5344CB8AC3E}">
        <p14:creationId xmlns:p14="http://schemas.microsoft.com/office/powerpoint/2010/main" val="1545371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243" y="530352"/>
            <a:ext cx="21717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</a:t>
            </a:r>
            <a:endParaRPr lang="en-US" sz="8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10243" y="1930037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</a:t>
            </a:r>
          </a:p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</a:t>
            </a:r>
          </a:p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STAKEHOLDERS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6" name="Picture 5" descr="How to Involve Stakeholders in Requirements Validation">
            <a:extLst>
              <a:ext uri="{FF2B5EF4-FFF2-40B4-BE49-F238E27FC236}">
                <a16:creationId xmlns:a16="http://schemas.microsoft.com/office/drawing/2014/main" id="{A6DE3EDB-5CE0-06C1-01A4-28536F355E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786" r="23215"/>
          <a:stretch>
            <a:fillRect/>
          </a:stretch>
        </p:blipFill>
        <p:spPr>
          <a:xfrm>
            <a:off x="4457700" y="-1"/>
            <a:ext cx="4686300" cy="51435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EDA60A-CECB-D2B8-DAA6-DC8759E96CFD}"/>
              </a:ext>
            </a:extLst>
          </p:cNvPr>
          <p:cNvSpPr txBox="1"/>
          <p:nvPr/>
        </p:nvSpPr>
        <p:spPr>
          <a:xfrm>
            <a:off x="8595360" y="266700"/>
            <a:ext cx="495300" cy="373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/>
                </a:solidFill>
              </a:rPr>
              <a:t>15</a:t>
            </a:r>
            <a:endParaRPr lang="en-CM" b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Process &amp; Addressing Gaps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Primary validation source: 190 Mobile Network Subscriber survey responses (ISP technical feedback pending)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solidFill>
            <a:srgbClr val="F0F8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07592"/>
            <a:ext cx="457200" cy="45720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07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7280" y="12161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Prioritizing User Needs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97280" y="1527048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feature list against reported pain points (unstable connections, high data costs). Validated need for background objective metric collection (latency, packet loss).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8229600" cy="777240"/>
          </a:xfrm>
          <a:prstGeom prst="rect">
            <a:avLst/>
          </a:prstGeom>
          <a:solidFill>
            <a:srgbClr val="FAFAFA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221992"/>
            <a:ext cx="457200" cy="45720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97280" y="2130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Feature Usefulness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97280" y="2441448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confirmed simple rating system (satisfaction, response time, usability) with timestamps is a feature they would engage with.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8229600" cy="777240"/>
          </a:xfrm>
          <a:prstGeom prst="rect">
            <a:avLst/>
          </a:prstGeom>
          <a:solidFill>
            <a:srgbClr val="F0F8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136392"/>
            <a:ext cx="457200" cy="45720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97280" y="3044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Risk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97280" y="3355848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requirement for fully autonomous logging — app doesn't rely on ISP-side data, mitigating missing ISP feedback risk.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FAFAFA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4050792"/>
            <a:ext cx="457200" cy="45720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97280" y="39593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Cost Concerns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097280" y="4270248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showed hesitancy about data consumption. Added "Data-Only-on-Wi-Fi" sync option to SRS.</a:t>
            </a:r>
            <a:endParaRPr lang="en-US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CCB485-BC11-748C-F3B7-A6A726387CBF}"/>
              </a:ext>
            </a:extLst>
          </p:cNvPr>
          <p:cNvSpPr txBox="1"/>
          <p:nvPr/>
        </p:nvSpPr>
        <p:spPr>
          <a:xfrm>
            <a:off x="8595360" y="182880"/>
            <a:ext cx="495300" cy="373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16</a:t>
            </a:r>
            <a:endParaRPr lang="en-CM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5C0E878A-3045-2F84-6B53-1D2AC07F0855}"/>
              </a:ext>
            </a:extLst>
          </p:cNvPr>
          <p:cNvSpPr/>
          <p:nvPr/>
        </p:nvSpPr>
        <p:spPr>
          <a:xfrm>
            <a:off x="365760" y="8046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SUMMARY</a:t>
            </a:r>
            <a:endParaRPr lang="en-US" sz="1600" dirty="0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348DE7BF-1E71-4370-FCCC-9DA64946F659}"/>
              </a:ext>
            </a:extLst>
          </p:cNvPr>
          <p:cNvSpPr/>
          <p:nvPr/>
        </p:nvSpPr>
        <p:spPr>
          <a:xfrm>
            <a:off x="365760" y="1115568"/>
            <a:ext cx="4251960" cy="804672"/>
          </a:xfrm>
          <a:prstGeom prst="rect">
            <a:avLst/>
          </a:prstGeom>
          <a:solidFill>
            <a:srgbClr val="0D2D54">
              <a:alpha val="90000"/>
            </a:srgbClr>
          </a:solidFill>
          <a:ln w="7620">
            <a:solidFill>
              <a:srgbClr val="0097A7"/>
            </a:solidFill>
            <a:prstDash val="solid"/>
          </a:ln>
        </p:spPr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D285358D-2D56-9A96-3DA1-C3CFF9E448B9}"/>
              </a:ext>
            </a:extLst>
          </p:cNvPr>
          <p:cNvSpPr/>
          <p:nvPr/>
        </p:nvSpPr>
        <p:spPr>
          <a:xfrm>
            <a:off x="365760" y="1115568"/>
            <a:ext cx="411480" cy="8046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F620270E-4479-037C-20C0-BE2BBF85D45D}"/>
              </a:ext>
            </a:extLst>
          </p:cNvPr>
          <p:cNvSpPr/>
          <p:nvPr/>
        </p:nvSpPr>
        <p:spPr>
          <a:xfrm>
            <a:off x="365760" y="1115568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✔</a:t>
            </a:r>
            <a:endParaRPr lang="en-US" sz="24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046A6EB8-A171-B0C4-2A92-C6544196FF15}"/>
              </a:ext>
            </a:extLst>
          </p:cNvPr>
          <p:cNvSpPr/>
          <p:nvPr/>
        </p:nvSpPr>
        <p:spPr>
          <a:xfrm>
            <a:off x="868680" y="11887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Gathered &amp; Validated</a:t>
            </a:r>
            <a:endParaRPr lang="en-US" sz="16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91772291-2226-7A8F-036E-114F264C71E7}"/>
              </a:ext>
            </a:extLst>
          </p:cNvPr>
          <p:cNvSpPr/>
          <p:nvPr/>
        </p:nvSpPr>
        <p:spPr>
          <a:xfrm>
            <a:off x="868680" y="148132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190-respondent survey confirmed pain points, feature priorities, and non-functional constraints with traceable evidence.</a:t>
            </a:r>
            <a:endParaRPr lang="en-US" sz="1100" dirty="0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7173C08C-8FC3-BEE1-975C-27EA3472A3F8}"/>
              </a:ext>
            </a:extLst>
          </p:cNvPr>
          <p:cNvSpPr/>
          <p:nvPr/>
        </p:nvSpPr>
        <p:spPr>
          <a:xfrm>
            <a:off x="365760" y="2048256"/>
            <a:ext cx="4251960" cy="804672"/>
          </a:xfrm>
          <a:prstGeom prst="rect">
            <a:avLst/>
          </a:prstGeom>
          <a:solidFill>
            <a:srgbClr val="0D2D54">
              <a:alpha val="90000"/>
            </a:srgbClr>
          </a:solidFill>
          <a:ln w="7620">
            <a:solidFill>
              <a:srgbClr val="0097A7"/>
            </a:solidFill>
            <a:prstDash val="solid"/>
          </a:ln>
        </p:spPr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A296D337-59FD-9DD2-290C-33E4ACBE840C}"/>
              </a:ext>
            </a:extLst>
          </p:cNvPr>
          <p:cNvSpPr/>
          <p:nvPr/>
        </p:nvSpPr>
        <p:spPr>
          <a:xfrm>
            <a:off x="365760" y="2048256"/>
            <a:ext cx="411480" cy="8046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C9DB1AFF-0CD4-7238-A83F-17FEC9F55796}"/>
              </a:ext>
            </a:extLst>
          </p:cNvPr>
          <p:cNvSpPr/>
          <p:nvPr/>
        </p:nvSpPr>
        <p:spPr>
          <a:xfrm>
            <a:off x="365760" y="2048256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✔</a:t>
            </a:r>
            <a:endParaRPr lang="en-US" sz="2400" dirty="0"/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CCD78EA5-5838-449E-583A-21FF1C4DEFC0}"/>
              </a:ext>
            </a:extLst>
          </p:cNvPr>
          <p:cNvSpPr/>
          <p:nvPr/>
        </p:nvSpPr>
        <p:spPr>
          <a:xfrm>
            <a:off x="868680" y="21214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Fully Classified</a:t>
            </a:r>
            <a:endParaRPr lang="en-US" sz="1600" dirty="0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5E7094E5-DE7E-6C58-CD1A-4F3E1FB4DBE0}"/>
              </a:ext>
            </a:extLst>
          </p:cNvPr>
          <p:cNvSpPr/>
          <p:nvPr/>
        </p:nvSpPr>
        <p:spPr>
          <a:xfrm>
            <a:off x="868680" y="241401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requirements documented in SRS v1.0: 10 FRs covering monitoring, feedback, alerts, storage &amp; privacy; 20 NFRs across performance, security, and reliability.</a:t>
            </a:r>
            <a:endParaRPr lang="en-US" sz="1100" dirty="0"/>
          </a:p>
        </p:txBody>
      </p:sp>
      <p:sp>
        <p:nvSpPr>
          <p:cNvPr id="40" name="Text 25">
            <a:extLst>
              <a:ext uri="{FF2B5EF4-FFF2-40B4-BE49-F238E27FC236}">
                <a16:creationId xmlns:a16="http://schemas.microsoft.com/office/drawing/2014/main" id="{DF2863FA-52AD-6B64-BC47-918BC03665AD}"/>
              </a:ext>
            </a:extLst>
          </p:cNvPr>
          <p:cNvSpPr/>
          <p:nvPr/>
        </p:nvSpPr>
        <p:spPr>
          <a:xfrm>
            <a:off x="3017520" y="3204973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41" name="Shape 26">
            <a:extLst>
              <a:ext uri="{FF2B5EF4-FFF2-40B4-BE49-F238E27FC236}">
                <a16:creationId xmlns:a16="http://schemas.microsoft.com/office/drawing/2014/main" id="{961D76BD-DBB9-DA84-1E67-1050A4F9EEF0}"/>
              </a:ext>
            </a:extLst>
          </p:cNvPr>
          <p:cNvSpPr/>
          <p:nvPr/>
        </p:nvSpPr>
        <p:spPr>
          <a:xfrm>
            <a:off x="3009900" y="3651504"/>
            <a:ext cx="3840480" cy="804672"/>
          </a:xfrm>
          <a:prstGeom prst="rect">
            <a:avLst/>
          </a:prstGeom>
          <a:solidFill>
            <a:srgbClr val="0D2D54">
              <a:alpha val="90000"/>
            </a:srgbClr>
          </a:solidFill>
          <a:ln w="7620">
            <a:solidFill>
              <a:srgbClr val="00BCD4"/>
            </a:solidFill>
            <a:prstDash val="solid"/>
          </a:ln>
        </p:spPr>
      </p:sp>
      <p:sp>
        <p:nvSpPr>
          <p:cNvPr id="42" name="Shape 27">
            <a:extLst>
              <a:ext uri="{FF2B5EF4-FFF2-40B4-BE49-F238E27FC236}">
                <a16:creationId xmlns:a16="http://schemas.microsoft.com/office/drawing/2014/main" id="{36D9D64A-9FD2-E0CF-40F3-657442E59CB9}"/>
              </a:ext>
            </a:extLst>
          </p:cNvPr>
          <p:cNvSpPr/>
          <p:nvPr/>
        </p:nvSpPr>
        <p:spPr>
          <a:xfrm>
            <a:off x="3009900" y="3651504"/>
            <a:ext cx="658368" cy="804672"/>
          </a:xfrm>
          <a:prstGeom prst="rect">
            <a:avLst/>
          </a:prstGeom>
          <a:solidFill>
            <a:srgbClr val="0A2F4E"/>
          </a:solidFill>
          <a:ln w="7620">
            <a:solidFill>
              <a:srgbClr val="00BCD4"/>
            </a:solidFill>
            <a:prstDash val="solid"/>
          </a:ln>
        </p:spPr>
      </p:sp>
      <p:sp>
        <p:nvSpPr>
          <p:cNvPr id="43" name="Text 28">
            <a:extLst>
              <a:ext uri="{FF2B5EF4-FFF2-40B4-BE49-F238E27FC236}">
                <a16:creationId xmlns:a16="http://schemas.microsoft.com/office/drawing/2014/main" id="{C626608C-2289-DFAE-15E4-769B359EC667}"/>
              </a:ext>
            </a:extLst>
          </p:cNvPr>
          <p:cNvSpPr/>
          <p:nvPr/>
        </p:nvSpPr>
        <p:spPr>
          <a:xfrm>
            <a:off x="3009900" y="3651504"/>
            <a:ext cx="658368" cy="8046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100" dirty="0"/>
          </a:p>
        </p:txBody>
      </p:sp>
      <p:sp>
        <p:nvSpPr>
          <p:cNvPr id="44" name="Text 29">
            <a:extLst>
              <a:ext uri="{FF2B5EF4-FFF2-40B4-BE49-F238E27FC236}">
                <a16:creationId xmlns:a16="http://schemas.microsoft.com/office/drawing/2014/main" id="{D88B7D39-68DD-3C15-016A-2DD8AE6B8431}"/>
              </a:ext>
            </a:extLst>
          </p:cNvPr>
          <p:cNvSpPr/>
          <p:nvPr/>
        </p:nvSpPr>
        <p:spPr>
          <a:xfrm>
            <a:off x="3741420" y="372465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Modeling and Design</a:t>
            </a:r>
            <a:endParaRPr lang="en-US" sz="1600" dirty="0"/>
          </a:p>
        </p:txBody>
      </p:sp>
      <p:sp>
        <p:nvSpPr>
          <p:cNvPr id="45" name="Text 30">
            <a:extLst>
              <a:ext uri="{FF2B5EF4-FFF2-40B4-BE49-F238E27FC236}">
                <a16:creationId xmlns:a16="http://schemas.microsoft.com/office/drawing/2014/main" id="{C38779C0-3FF8-6EAF-8C23-E745EE39A862}"/>
              </a:ext>
            </a:extLst>
          </p:cNvPr>
          <p:cNvSpPr/>
          <p:nvPr/>
        </p:nvSpPr>
        <p:spPr>
          <a:xfrm>
            <a:off x="3741420" y="401726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the SRS into architecture diagrams, database schema, UI wireframes, and API contracts.</a:t>
            </a:r>
            <a:endParaRPr lang="en-US" sz="1100" dirty="0"/>
          </a:p>
        </p:txBody>
      </p:sp>
      <p:sp>
        <p:nvSpPr>
          <p:cNvPr id="61" name="Shape 46">
            <a:extLst>
              <a:ext uri="{FF2B5EF4-FFF2-40B4-BE49-F238E27FC236}">
                <a16:creationId xmlns:a16="http://schemas.microsoft.com/office/drawing/2014/main" id="{B4983EDA-82CB-BFC7-9747-8F9B09C61325}"/>
              </a:ext>
            </a:extLst>
          </p:cNvPr>
          <p:cNvSpPr/>
          <p:nvPr/>
        </p:nvSpPr>
        <p:spPr>
          <a:xfrm>
            <a:off x="365760" y="4800600"/>
            <a:ext cx="8412480" cy="274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2" name="Text 3">
            <a:extLst>
              <a:ext uri="{FF2B5EF4-FFF2-40B4-BE49-F238E27FC236}">
                <a16:creationId xmlns:a16="http://schemas.microsoft.com/office/drawing/2014/main" id="{59DDAE1A-C3E9-3870-CE6A-2629AE624ADA}"/>
              </a:ext>
            </a:extLst>
          </p:cNvPr>
          <p:cNvSpPr/>
          <p:nvPr/>
        </p:nvSpPr>
        <p:spPr>
          <a:xfrm>
            <a:off x="365760" y="18288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WHAT'S NEXT</a:t>
            </a:r>
            <a:endParaRPr lang="en-US" sz="3600" dirty="0"/>
          </a:p>
        </p:txBody>
      </p:sp>
      <p:sp>
        <p:nvSpPr>
          <p:cNvPr id="63" name="Shape 15">
            <a:extLst>
              <a:ext uri="{FF2B5EF4-FFF2-40B4-BE49-F238E27FC236}">
                <a16:creationId xmlns:a16="http://schemas.microsoft.com/office/drawing/2014/main" id="{2598BBD4-A2F7-1E13-41F4-BC718B1AF9BB}"/>
              </a:ext>
            </a:extLst>
          </p:cNvPr>
          <p:cNvSpPr/>
          <p:nvPr/>
        </p:nvSpPr>
        <p:spPr>
          <a:xfrm>
            <a:off x="4815840" y="1115568"/>
            <a:ext cx="4251960" cy="804672"/>
          </a:xfrm>
          <a:prstGeom prst="rect">
            <a:avLst/>
          </a:prstGeom>
          <a:solidFill>
            <a:srgbClr val="0D2D54">
              <a:alpha val="90000"/>
            </a:srgbClr>
          </a:solidFill>
          <a:ln w="7620">
            <a:solidFill>
              <a:srgbClr val="0097A7"/>
            </a:solidFill>
            <a:prstDash val="solid"/>
          </a:ln>
        </p:spPr>
      </p:sp>
      <p:sp>
        <p:nvSpPr>
          <p:cNvPr id="64" name="Shape 16">
            <a:extLst>
              <a:ext uri="{FF2B5EF4-FFF2-40B4-BE49-F238E27FC236}">
                <a16:creationId xmlns:a16="http://schemas.microsoft.com/office/drawing/2014/main" id="{82F796D9-6F7B-056F-CE98-9DA1958BB771}"/>
              </a:ext>
            </a:extLst>
          </p:cNvPr>
          <p:cNvSpPr/>
          <p:nvPr/>
        </p:nvSpPr>
        <p:spPr>
          <a:xfrm>
            <a:off x="4815840" y="1115568"/>
            <a:ext cx="411480" cy="8046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5" name="Text 17">
            <a:extLst>
              <a:ext uri="{FF2B5EF4-FFF2-40B4-BE49-F238E27FC236}">
                <a16:creationId xmlns:a16="http://schemas.microsoft.com/office/drawing/2014/main" id="{1035C094-FA01-7052-16A4-CB6FA2B3A455}"/>
              </a:ext>
            </a:extLst>
          </p:cNvPr>
          <p:cNvSpPr/>
          <p:nvPr/>
        </p:nvSpPr>
        <p:spPr>
          <a:xfrm>
            <a:off x="4815840" y="1115568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✔</a:t>
            </a:r>
            <a:endParaRPr lang="en-US" sz="2400" dirty="0"/>
          </a:p>
        </p:txBody>
      </p:sp>
      <p:sp>
        <p:nvSpPr>
          <p:cNvPr id="66" name="Text 18">
            <a:extLst>
              <a:ext uri="{FF2B5EF4-FFF2-40B4-BE49-F238E27FC236}">
                <a16:creationId xmlns:a16="http://schemas.microsoft.com/office/drawing/2014/main" id="{86C3A7DF-170D-DF6B-CF68-2D8D77226943}"/>
              </a:ext>
            </a:extLst>
          </p:cNvPr>
          <p:cNvSpPr/>
          <p:nvPr/>
        </p:nvSpPr>
        <p:spPr>
          <a:xfrm>
            <a:off x="5318760" y="118872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&amp; Gaps Resolved</a:t>
            </a:r>
            <a:endParaRPr lang="en-US" sz="1600" dirty="0"/>
          </a:p>
        </p:txBody>
      </p:sp>
      <p:sp>
        <p:nvSpPr>
          <p:cNvPr id="67" name="Text 19">
            <a:extLst>
              <a:ext uri="{FF2B5EF4-FFF2-40B4-BE49-F238E27FC236}">
                <a16:creationId xmlns:a16="http://schemas.microsoft.com/office/drawing/2014/main" id="{396453F3-9A71-16B0-A893-99C80FCAFCDA}"/>
              </a:ext>
            </a:extLst>
          </p:cNvPr>
          <p:cNvSpPr/>
          <p:nvPr/>
        </p:nvSpPr>
        <p:spPr>
          <a:xfrm>
            <a:off x="5318760" y="148132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key inconsistencies identified (GPS privacy vs. map, prompts vs. rewards) and resolved with design decisions baked into the SRS.</a:t>
            </a:r>
            <a:endParaRPr lang="en-US" sz="1100" dirty="0"/>
          </a:p>
        </p:txBody>
      </p:sp>
      <p:sp>
        <p:nvSpPr>
          <p:cNvPr id="68" name="Shape 20">
            <a:extLst>
              <a:ext uri="{FF2B5EF4-FFF2-40B4-BE49-F238E27FC236}">
                <a16:creationId xmlns:a16="http://schemas.microsoft.com/office/drawing/2014/main" id="{C7753283-DCD0-4189-10B7-9919EAA0FB79}"/>
              </a:ext>
            </a:extLst>
          </p:cNvPr>
          <p:cNvSpPr/>
          <p:nvPr/>
        </p:nvSpPr>
        <p:spPr>
          <a:xfrm>
            <a:off x="4815840" y="2048256"/>
            <a:ext cx="4251960" cy="804672"/>
          </a:xfrm>
          <a:prstGeom prst="rect">
            <a:avLst/>
          </a:prstGeom>
          <a:solidFill>
            <a:srgbClr val="0D2D54">
              <a:alpha val="90000"/>
            </a:srgbClr>
          </a:solidFill>
          <a:ln w="7620">
            <a:solidFill>
              <a:srgbClr val="0097A7"/>
            </a:solidFill>
            <a:prstDash val="solid"/>
          </a:ln>
        </p:spPr>
      </p:sp>
      <p:sp>
        <p:nvSpPr>
          <p:cNvPr id="69" name="Shape 21">
            <a:extLst>
              <a:ext uri="{FF2B5EF4-FFF2-40B4-BE49-F238E27FC236}">
                <a16:creationId xmlns:a16="http://schemas.microsoft.com/office/drawing/2014/main" id="{CCCD5EC7-4488-251C-D156-950EF976B9DB}"/>
              </a:ext>
            </a:extLst>
          </p:cNvPr>
          <p:cNvSpPr/>
          <p:nvPr/>
        </p:nvSpPr>
        <p:spPr>
          <a:xfrm>
            <a:off x="4815840" y="2048256"/>
            <a:ext cx="411480" cy="8046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0" name="Text 22">
            <a:extLst>
              <a:ext uri="{FF2B5EF4-FFF2-40B4-BE49-F238E27FC236}">
                <a16:creationId xmlns:a16="http://schemas.microsoft.com/office/drawing/2014/main" id="{90BB0CD9-7294-2EC4-9881-CE1A820AC7E3}"/>
              </a:ext>
            </a:extLst>
          </p:cNvPr>
          <p:cNvSpPr/>
          <p:nvPr/>
        </p:nvSpPr>
        <p:spPr>
          <a:xfrm>
            <a:off x="4815840" y="2048256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✔</a:t>
            </a:r>
            <a:endParaRPr lang="en-US" sz="2400" dirty="0"/>
          </a:p>
        </p:txBody>
      </p:sp>
      <p:sp>
        <p:nvSpPr>
          <p:cNvPr id="71" name="Text 23">
            <a:extLst>
              <a:ext uri="{FF2B5EF4-FFF2-40B4-BE49-F238E27FC236}">
                <a16:creationId xmlns:a16="http://schemas.microsoft.com/office/drawing/2014/main" id="{8B1BCAE6-440F-9C5A-A10A-838592CFC681}"/>
              </a:ext>
            </a:extLst>
          </p:cNvPr>
          <p:cNvSpPr/>
          <p:nvPr/>
        </p:nvSpPr>
        <p:spPr>
          <a:xfrm>
            <a:off x="5318760" y="21214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Established</a:t>
            </a:r>
            <a:endParaRPr lang="en-US" sz="1600" dirty="0"/>
          </a:p>
        </p:txBody>
      </p:sp>
      <p:sp>
        <p:nvSpPr>
          <p:cNvPr id="72" name="Text 24">
            <a:extLst>
              <a:ext uri="{FF2B5EF4-FFF2-40B4-BE49-F238E27FC236}">
                <a16:creationId xmlns:a16="http://schemas.microsoft.com/office/drawing/2014/main" id="{4471FEFB-284A-885A-B671-8D20926050AE}"/>
              </a:ext>
            </a:extLst>
          </p:cNvPr>
          <p:cNvSpPr/>
          <p:nvPr/>
        </p:nvSpPr>
        <p:spPr>
          <a:xfrm>
            <a:off x="5318760" y="241401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MoSCoW method applied — Must-Haves define the MVP; Should/Could-Haves scope future iterations. Feasibility matrix guides development effort.</a:t>
            </a:r>
            <a:endParaRPr lang="en-US" sz="11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D6282ED-8920-22B8-8F92-90DE8E4F8D36}"/>
              </a:ext>
            </a:extLst>
          </p:cNvPr>
          <p:cNvSpPr txBox="1"/>
          <p:nvPr/>
        </p:nvSpPr>
        <p:spPr>
          <a:xfrm>
            <a:off x="8595360" y="266700"/>
            <a:ext cx="495300" cy="373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/>
                </a:solidFill>
              </a:rPr>
              <a:t>17</a:t>
            </a:r>
            <a:endParaRPr lang="en-CM" b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1465</Words>
  <Application>Microsoft Office PowerPoint</Application>
  <PresentationFormat>On-screen Show (16:9)</PresentationFormat>
  <Paragraphs>328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CEF440 Group 16 - Requirements Analysis</dc:title>
  <dc:subject>PptxGenJS Presentation</dc:subject>
  <dc:creator>Willyherman</dc:creator>
  <cp:lastModifiedBy>HP</cp:lastModifiedBy>
  <cp:revision>8</cp:revision>
  <dcterms:created xsi:type="dcterms:W3CDTF">2026-05-11T20:07:52Z</dcterms:created>
  <dcterms:modified xsi:type="dcterms:W3CDTF">2026-05-11T21:34:15Z</dcterms:modified>
</cp:coreProperties>
</file>