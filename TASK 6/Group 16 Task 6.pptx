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1"/>
  </p:notesMasterIdLst>
  <p:sldIdLst>
    <p:sldId id="256" r:id="rId2"/>
    <p:sldId id="257" r:id="rId3"/>
    <p:sldId id="259" r:id="rId4"/>
    <p:sldId id="261" r:id="rId5"/>
    <p:sldId id="262" r:id="rId6"/>
    <p:sldId id="264" r:id="rId7"/>
    <p:sldId id="278" r:id="rId8"/>
    <p:sldId id="279" r:id="rId9"/>
    <p:sldId id="266" r:id="rId10"/>
    <p:sldId id="280" r:id="rId11"/>
    <p:sldId id="269" r:id="rId12"/>
    <p:sldId id="270" r:id="rId13"/>
    <p:sldId id="284" r:id="rId14"/>
    <p:sldId id="272" r:id="rId15"/>
    <p:sldId id="286" r:id="rId16"/>
    <p:sldId id="274" r:id="rId17"/>
    <p:sldId id="287" r:id="rId18"/>
    <p:sldId id="288" r:id="rId19"/>
    <p:sldId id="275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6FF"/>
    <a:srgbClr val="CCECFF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2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79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ODM:Object</a:t>
            </a:r>
            <a:r>
              <a:rPr lang="en-US" dirty="0"/>
              <a:t> Document Mapper CORS: Cross-Origin Resource Sharing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request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3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699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87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507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9364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144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170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2305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959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3718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91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35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59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056" y="-1358538"/>
            <a:ext cx="4572000" cy="4572000"/>
          </a:xfrm>
          <a:prstGeom prst="ellipse">
            <a:avLst/>
          </a:prstGeom>
          <a:solidFill>
            <a:srgbClr val="1E8BC3">
              <a:alpha val="18000"/>
            </a:srgbClr>
          </a:solidFill>
          <a:ln w="12700">
            <a:solidFill>
              <a:srgbClr val="1E8BC3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61216" y="2299062"/>
            <a:ext cx="2743200" cy="2743200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1685108" y="39889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</a:t>
            </a:r>
          </a:p>
          <a:p>
            <a:pPr algn="ctr"/>
            <a:r>
              <a:rPr lang="en-CM" b="1" dirty="0">
                <a:solidFill>
                  <a:schemeClr val="bg1"/>
                </a:solidFill>
              </a:rPr>
              <a:t>INTERNET PROGRAMMING AND </a:t>
            </a:r>
            <a:endParaRPr lang="fr-FR" b="1" dirty="0">
              <a:solidFill>
                <a:schemeClr val="bg1"/>
              </a:solidFill>
            </a:endParaRPr>
          </a:p>
          <a:p>
            <a:pPr algn="ctr"/>
            <a:r>
              <a:rPr lang="en-CM" b="1" dirty="0">
                <a:solidFill>
                  <a:schemeClr val="bg1"/>
                </a:solidFill>
              </a:rPr>
              <a:t>MOBILE PROGRAMMING</a:t>
            </a:r>
            <a:endParaRPr lang="en-US" b="1" kern="0" spc="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-1685108" y="1109523"/>
            <a:ext cx="82034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NetInsight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-1685108" y="2493373"/>
            <a:ext cx="81463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-1685108" y="3600284"/>
            <a:ext cx="8046720" cy="362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Group 16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-488224" y="447533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-1516924" y="4432875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Dr. Nkemeni Valery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45652-B2C2-87B0-A04B-0B55B05F7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092" y="-1"/>
            <a:ext cx="4535908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216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20140" y="215471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31226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20140" y="40782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1216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40680" y="2164515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86400" y="3118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↔ Backend Connection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B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394960" y="40782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NetInsight?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NetInsight is a mobile application built with React Native (Expo) that anonymously collects and analyses mobile network Quality of Experience (QoE) data across Buea, Cameroon.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96012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49240" y="960120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014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49240" y="173736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1737360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792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2075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49240" y="251460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2514600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569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49240" y="329184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3291840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630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406908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4069080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4123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4407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270662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Speed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11810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Speed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(RTT)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606040" y="270662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06040" y="311810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606040" y="352958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Type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258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r>
              <a:rPr lang="en-US" sz="3200" dirty="0"/>
              <a:t> - </a:t>
            </a: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Metric Data Elements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752109"/>
              </p:ext>
            </p:extLst>
          </p:nvPr>
        </p:nvGraphicFramePr>
        <p:xfrm>
          <a:off x="457200" y="914400"/>
          <a:ext cx="8503920" cy="345643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device identifier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8601 measurement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/ cellular / ethernet / unknown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downloadSpeed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(Mbps)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download throughput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uploadSpeed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(Mbps)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upload throughput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(ms)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Round-trip time to google.com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signalStrength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(dBm)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signal strength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Doc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latitude, longitude, 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Data Elements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615293"/>
              </p:ext>
            </p:extLst>
          </p:nvPr>
        </p:nvGraphicFramePr>
        <p:xfrm>
          <a:off x="457200" y="914400"/>
          <a:ext cx="8686800" cy="345643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(Enum)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very_poor / poor / fair / good / excellent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areaOfFeedback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data_speed, signal_strength, call_quality, etc.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user description (optional)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(1–5)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star rating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Doc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 &amp; longitude of reported area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networkProvider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network provider (default: Anonymous)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flag – feedback actioned or not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 / updatedAt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Auto-managed timestamps by Mongoose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– Entities &amp; Relationships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9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69843" y="452569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1127051"/>
            <a:ext cx="347684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conceptual diagram visually illustrates the relationships between key concepts, ideas, or data entities within a system. </a:t>
            </a:r>
          </a:p>
          <a:p>
            <a:endParaRPr lang="en-US" sz="2000" dirty="0"/>
          </a:p>
          <a:p>
            <a:r>
              <a:rPr lang="en-US" sz="2000" dirty="0"/>
              <a:t>For our application, we identify 2  data entities: Feedback Entity and the </a:t>
            </a:r>
            <a:r>
              <a:rPr lang="en-US" sz="2000" dirty="0" err="1"/>
              <a:t>NetworkMetric</a:t>
            </a:r>
            <a:r>
              <a:rPr lang="en-US" sz="2000" dirty="0"/>
              <a:t> Entity.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AFFC8-A7A5-F9D0-2533-C20A158F7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27" r="30905"/>
          <a:stretch>
            <a:fillRect/>
          </a:stretch>
        </p:blipFill>
        <p:spPr>
          <a:xfrm>
            <a:off x="4815295" y="915568"/>
            <a:ext cx="2906602" cy="4026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– Entities, Attributes &amp; Relationships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19"/>
            <a:ext cx="3572038" cy="325264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19"/>
            <a:ext cx="3572038" cy="463255"/>
          </a:xfrm>
          <a:prstGeom prst="roundRect">
            <a:avLst>
              <a:gd name="adj" fmla="val 1818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19"/>
            <a:ext cx="3572038" cy="54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NetworkMetric Entity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(identifier)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connectionType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31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isConnected, isInternetReachable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569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signalStrength, downloadSpeed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uploadSpeed, latency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(latitude, longitude, accuracy)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5844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createdAt, updatedAt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6112" y="1005837"/>
            <a:ext cx="3572038" cy="320692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6112" y="987549"/>
            <a:ext cx="3572038" cy="505337"/>
          </a:xfrm>
          <a:prstGeom prst="roundRect">
            <a:avLst>
              <a:gd name="adj" fmla="val 18182"/>
            </a:avLst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3896" y="1005838"/>
            <a:ext cx="2531366" cy="534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Entity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78135" y="1581909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(enum)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8991" y="1874517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areaOfFeedback, description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8991" y="2128264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3271" y="2418586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(latitude, longitude)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23271" y="2683762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networkProvider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36987" y="2953509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(admin flag)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8991" y="3337557"/>
            <a:ext cx="3750171" cy="330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createdAt, updatedAt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59" y="4663439"/>
            <a:ext cx="2318137" cy="344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51003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712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8AD8B2-CF71-1308-EBE6-EB115E6B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10" y="264613"/>
            <a:ext cx="8511290" cy="456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71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r>
              <a:rPr lang="en-US" sz="2800" dirty="0"/>
              <a:t> -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MongoDB Atlas?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Flexibility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payloads evolve over time. MongoDB's document model accommodates new fields without costly migrations.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14300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83480" y="17099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sub-objects fit naturally as nested documents, avoiding JOIN operations required by relational databases.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Capability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geospatial index support enables future area-based metric queries across Buea.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301752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Scalability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83480" y="358444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scales to handle high write throughput from many devices continuously submitting measurement samples.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162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Atlas configuration for </a:t>
            </a:r>
            <a:r>
              <a:rPr lang="en-US" sz="26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NetInsight</a:t>
            </a:r>
            <a:endParaRPr 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68" y="563073"/>
            <a:ext cx="3717583" cy="22169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386" y="530665"/>
            <a:ext cx="4335802" cy="22817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873" y="2884581"/>
            <a:ext cx="4136929" cy="218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1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r>
              <a:rPr lang="en-US" sz="2800" dirty="0"/>
              <a:t> -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873037"/>
              </p:ext>
            </p:extLst>
          </p:nvPr>
        </p:nvGraphicFramePr>
        <p:xfrm>
          <a:off x="2065564" y="960120"/>
          <a:ext cx="4572000" cy="32186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ODM Library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Mongoose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Handling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Variables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dotenv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Hosting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Metrics  /api/network-metrics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44752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/api/network-metrics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14630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4538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single network measurement sample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5FA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47672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1947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/api/network-metrics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0" y="19659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965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956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recent samples; filter by ?deviceId, ?limit (max 500)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450592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505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2450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/api/network-metrics/stats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31920" y="24688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468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2459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today's aggregate averages via aggregation pipeline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/api/feedback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383280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832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98448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/api/feedback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931920" y="340156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33924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save user feedback; 400 if fields invalid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813048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5FA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886200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86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98448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/api/feedback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31920" y="39044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3904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8953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feedback most-recent-first; ?resolved filter, ?limit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389120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3891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98448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/api/feedback/:id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931920" y="440740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407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74920" y="4398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resolved flag – allows admins to mark feedback as actioned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162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2342"/>
                </a:solidFill>
                <a:ea typeface="Calibri" pitchFamily="34" charset="-122"/>
                <a:cs typeface="Calibri" pitchFamily="34" charset="-120"/>
              </a:rPr>
              <a:t>Testing API Endpoint with backend</a:t>
            </a:r>
            <a:endParaRPr lang="en-US" sz="2600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21"/>
          <a:stretch>
            <a:fillRect/>
          </a:stretch>
        </p:blipFill>
        <p:spPr>
          <a:xfrm>
            <a:off x="618628" y="746910"/>
            <a:ext cx="8055599" cy="12696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5999C1-B650-8769-1A8C-AC96D24CC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27" y="1867989"/>
            <a:ext cx="7357880" cy="3068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4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DB ↔ Backend Connection -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Lifecycle &amp;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435608"/>
            <a:ext cx="0" cy="228600"/>
          </a:xfrm>
          <a:prstGeom prst="line">
            <a:avLst/>
          </a:prstGeom>
          <a:noFill/>
          <a:ln w="19050">
            <a:solidFill>
              <a:srgbClr val="1E8BC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02920" y="987552"/>
            <a:ext cx="329184" cy="32918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starts container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`npm start` (node server.js)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" y="2084832"/>
            <a:ext cx="0" cy="228600"/>
          </a:xfrm>
          <a:prstGeom prst="line">
            <a:avLst/>
          </a:prstGeom>
          <a:noFill/>
          <a:ln w="19050">
            <a:solidFill>
              <a:srgbClr val="1E8BC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02920" y="1636776"/>
            <a:ext cx="329184" cy="32918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609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dotenv.config()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env vars available via process.env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" y="2734056"/>
            <a:ext cx="0" cy="228600"/>
          </a:xfrm>
          <a:prstGeom prst="line">
            <a:avLst/>
          </a:prstGeom>
          <a:noFill/>
          <a:ln w="19050">
            <a:solidFill>
              <a:srgbClr val="1E8BC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" y="2286000"/>
            <a:ext cx="329184" cy="32918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connectDB() called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532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MONGODB_URI, calls mongoose.connect()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" y="3383280"/>
            <a:ext cx="0" cy="228600"/>
          </a:xfrm>
          <a:prstGeom prst="line">
            <a:avLst/>
          </a:prstGeom>
          <a:noFill/>
          <a:ln w="19050">
            <a:solidFill>
              <a:srgbClr val="1E8BC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02920" y="2935224"/>
            <a:ext cx="329184" cy="32918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opens TCP pool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mongodb+srv:// DNS seed list protocol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" y="4032504"/>
            <a:ext cx="0" cy="228600"/>
          </a:xfrm>
          <a:prstGeom prst="line">
            <a:avLst/>
          </a:prstGeom>
          <a:noFill/>
          <a:ln w="19050">
            <a:solidFill>
              <a:srgbClr val="1E8BC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02920" y="3584448"/>
            <a:ext cx="329184" cy="32918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57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authenticates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8313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SCRAM-SHA-256 username/password auth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233672"/>
            <a:ext cx="329184" cy="32918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ready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'MongoDB connected' – accepts HTTP requests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29200" y="1371600"/>
            <a:ext cx="3657600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20640" y="1554480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1426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 Env Vars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0" y="17007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MONGODB_URI never committed to Git; stored in Railway's encrypted env store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2075688"/>
            <a:ext cx="3657600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2258568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130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in Transit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0" y="2404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Railway↔Atlas traffic over TLS via mongodb+srv:// protocol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0" y="2779776"/>
            <a:ext cx="3657600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20640" y="296265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Whitelisting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0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allowed (Railway free tier has no static IPs); would be restricted in production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0" y="3483864"/>
            <a:ext cx="3657600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120640" y="3666744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3538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Failure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86400" y="3813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process.exit() on DB failure – server stays up on transient errors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0" y="4187952"/>
            <a:ext cx="3657600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20640" y="4370832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42428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0" y="45171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package applied globally to allow any device IP to reach the Railway API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20AEA3-5D27-591E-55F5-531F25ED11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6" y="314097"/>
            <a:ext cx="8549813" cy="4494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948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Backend to Frontend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E8B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A2342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(Expo App)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61488" y="1691640"/>
            <a:ext cx="594360" cy="0"/>
          </a:xfrm>
          <a:prstGeom prst="line">
            <a:avLst/>
          </a:prstGeom>
          <a:noFill/>
          <a:ln w="25400">
            <a:solidFill>
              <a:srgbClr val="3A52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10128" y="1627632"/>
            <a:ext cx="91440" cy="128016"/>
          </a:xfrm>
          <a:prstGeom prst="line">
            <a:avLst/>
          </a:prstGeom>
          <a:noFill/>
          <a:ln w="25400">
            <a:solidFill>
              <a:srgbClr val="3A52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0128" y="1755648"/>
            <a:ext cx="91440" cy="0"/>
          </a:xfrm>
          <a:prstGeom prst="line">
            <a:avLst/>
          </a:prstGeom>
          <a:noFill/>
          <a:ln w="25400">
            <a:solidFill>
              <a:srgbClr val="3A52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E8BC3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188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(Express)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13248" y="1691640"/>
            <a:ext cx="594360" cy="0"/>
          </a:xfrm>
          <a:prstGeom prst="line">
            <a:avLst/>
          </a:prstGeom>
          <a:noFill/>
          <a:ln w="25400">
            <a:solidFill>
              <a:srgbClr val="3A52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627632"/>
            <a:ext cx="91440" cy="128016"/>
          </a:xfrm>
          <a:prstGeom prst="line">
            <a:avLst/>
          </a:prstGeom>
          <a:noFill/>
          <a:ln w="25400">
            <a:solidFill>
              <a:srgbClr val="3A52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1755648"/>
            <a:ext cx="91440" cy="0"/>
          </a:xfrm>
          <a:prstGeom prst="line">
            <a:avLst/>
          </a:prstGeom>
          <a:noFill/>
          <a:ln w="25400">
            <a:solidFill>
              <a:srgbClr val="3A52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8E44AD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188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Connection Was Made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274320" cy="2743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generated a public URL for the backend (netinsight-backend-production.up.railway.app).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274320" cy="2743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520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was tested via browser – /api/network-metrics/stats returned JSON correctly.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274320" cy="2743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1605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API_BASE_URL constant added to the React Native frontend, pointing to the Railway URL.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2944368"/>
            <a:ext cx="274320" cy="2743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880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screen calls POST /api/network-metrics to store measurement data every ~5 minutes.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3584448"/>
            <a:ext cx="274320" cy="2743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520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calls GET /api/network-metrics/stats to fetch today's averages for display.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0" y="4224528"/>
            <a:ext cx="274320" cy="27432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1605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screen calls POST /api/feedback; success confirmed in MongoDB Atlas Data Explorer.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4F0DE7-9098-B010-9679-C9055EB9A3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91" y="333420"/>
            <a:ext cx="8432043" cy="4434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366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21E9E0-DE30-9E41-F402-40886933A6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6" b="13865"/>
          <a:stretch>
            <a:fillRect/>
          </a:stretch>
        </p:blipFill>
        <p:spPr bwMode="auto">
          <a:xfrm>
            <a:off x="530587" y="547006"/>
            <a:ext cx="8025583" cy="1989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17E36A-C641-2EAA-D7D0-9CA6A275D0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90" b="17056"/>
          <a:stretch>
            <a:fillRect/>
          </a:stretch>
        </p:blipFill>
        <p:spPr bwMode="auto">
          <a:xfrm>
            <a:off x="530586" y="2607311"/>
            <a:ext cx="8241989" cy="1866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981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E8BC3">
              <a:alpha val="20000"/>
            </a:srgbClr>
          </a:solidFill>
          <a:ln w="12700">
            <a:solidFill>
              <a:srgbClr val="1E8BC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flexibility &amp; native geospatial support make it ideal for evolving QoE metrics.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128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Locations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5054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Sub-documents avoid joins and match the NoSQL document model naturally.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712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Indexes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1638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timestamp and deviceId ensure fast queries as data grows.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5295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Env-variable credentials, TLS transit, and CORS middleware protect the system.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879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4805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Mongoose + Railway + MongoDB Atlas delivers a fully managed cloud backend.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221</TotalTime>
  <Words>1042</Words>
  <Application>Microsoft Office PowerPoint</Application>
  <PresentationFormat>On-screen Show (16:9)</PresentationFormat>
  <Paragraphs>253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NetInsight – Database Design &amp; Implementation</dc:title>
  <dc:subject>PptxGenJS Presentation</dc:subject>
  <dc:creator>PptxGenJS</dc:creator>
  <cp:lastModifiedBy>HP</cp:lastModifiedBy>
  <cp:revision>24</cp:revision>
  <dcterms:created xsi:type="dcterms:W3CDTF">2026-06-16T09:46:20Z</dcterms:created>
  <dcterms:modified xsi:type="dcterms:W3CDTF">2026-06-16T15:12:33Z</dcterms:modified>
</cp:coreProperties>
</file>