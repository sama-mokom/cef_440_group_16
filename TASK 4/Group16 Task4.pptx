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71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95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u="none" strike="noStrike" dirty="0">
                <a:effectLst/>
                <a:latin typeface="Google Sans"/>
              </a:rPr>
              <a:t>sequence diagram</a:t>
            </a:r>
            <a:r>
              <a:rPr lang="en-US" dirty="0"/>
              <a:t> is a visual tool used in software engineering and system design to show how different parts of a system interact with each other to complete a task. It maps out the exact chronological order in which messages, requests, and data are passed between objects.</a:t>
            </a:r>
            <a:endParaRPr lang="en-CM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6A320D2D-68DF-6D68-E1B4-35F944446D66}"/>
              </a:ext>
            </a:extLst>
          </p:cNvPr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</a:t>
            </a:r>
            <a:endParaRPr lang="en-US" sz="24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0C94AEC-CE3A-0834-DA8A-6A277F5D5C0B}"/>
              </a:ext>
            </a:extLst>
          </p:cNvPr>
          <p:cNvSpPr/>
          <p:nvPr/>
        </p:nvSpPr>
        <p:spPr>
          <a:xfrm>
            <a:off x="365760" y="938893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and Technology </a:t>
            </a:r>
          </a:p>
          <a:p>
            <a:pPr algn="ctr"/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CEF440 - </a:t>
            </a:r>
            <a:r>
              <a:rPr lang="en-US" sz="2000" dirty="0"/>
              <a:t>INTERNET PROGRAMMING AND MOBILE PROGRAMMING 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B8279C25-2133-A6D7-2CE6-19F2EE772E5C}"/>
              </a:ext>
            </a:extLst>
          </p:cNvPr>
          <p:cNvSpPr/>
          <p:nvPr/>
        </p:nvSpPr>
        <p:spPr>
          <a:xfrm>
            <a:off x="586849" y="1647553"/>
            <a:ext cx="80434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TASK 4: SYSTEM MODELLING AND DESIGN</a:t>
            </a:r>
            <a:endParaRPr lang="en-US" sz="54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D2421C3E-76D9-C756-FF5A-5979E3341EB4}"/>
              </a:ext>
            </a:extLst>
          </p:cNvPr>
          <p:cNvSpPr/>
          <p:nvPr/>
        </p:nvSpPr>
        <p:spPr>
          <a:xfrm>
            <a:off x="2153739" y="424706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16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C9D61BE5-32FD-9964-A3F0-F8C163BDC225}"/>
              </a:ext>
            </a:extLst>
          </p:cNvPr>
          <p:cNvSpPr/>
          <p:nvPr/>
        </p:nvSpPr>
        <p:spPr>
          <a:xfrm>
            <a:off x="2864032" y="471079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Instructor: Dr. Nkemeni Valery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CM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AGENDA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893499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93499"/>
            <a:ext cx="457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93499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Context Diagram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206828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068286"/>
            <a:ext cx="457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6828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III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227859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Data Flow Diagram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663440" y="206191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061918"/>
            <a:ext cx="457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06191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IV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227233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Use Case Diagram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65760" y="31261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26160"/>
            <a:ext cx="457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261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3319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Sequence Diagram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669971" y="3139985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139985"/>
            <a:ext cx="457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139985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12080" y="333364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Class Diagram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2331720" y="411022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331720" y="4110228"/>
            <a:ext cx="457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411022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VII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880360" y="43147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Deployment Diagram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080760" y="4766201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2</a:t>
            </a:r>
            <a:endParaRPr lang="en-US" sz="110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1E41ADC4-D851-4FFE-0EFD-C82D2EA1BF32}"/>
              </a:ext>
            </a:extLst>
          </p:cNvPr>
          <p:cNvSpPr/>
          <p:nvPr/>
        </p:nvSpPr>
        <p:spPr>
          <a:xfrm>
            <a:off x="365760" y="908303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B004D480-97DE-1908-DCC5-6EF4E8D42EC4}"/>
              </a:ext>
            </a:extLst>
          </p:cNvPr>
          <p:cNvSpPr/>
          <p:nvPr/>
        </p:nvSpPr>
        <p:spPr>
          <a:xfrm>
            <a:off x="365760" y="908303"/>
            <a:ext cx="457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83559B2-C543-EFF9-ED83-AE1C4D91740D}"/>
              </a:ext>
            </a:extLst>
          </p:cNvPr>
          <p:cNvSpPr/>
          <p:nvPr/>
        </p:nvSpPr>
        <p:spPr>
          <a:xfrm>
            <a:off x="365760" y="908303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1870A995-23BD-056C-9259-CF17686AB105}"/>
              </a:ext>
            </a:extLst>
          </p:cNvPr>
          <p:cNvSpPr/>
          <p:nvPr/>
        </p:nvSpPr>
        <p:spPr>
          <a:xfrm>
            <a:off x="914400" y="10937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/>
              <a:t>Introduction</a:t>
            </a:r>
            <a:endParaRPr lang="en-US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89BAA7-4281-BBEB-220B-B8FBA4223CB3}"/>
              </a:ext>
            </a:extLst>
          </p:cNvPr>
          <p:cNvSpPr txBox="1"/>
          <p:nvPr/>
        </p:nvSpPr>
        <p:spPr>
          <a:xfrm>
            <a:off x="8533313" y="1709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1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I. INTRODUCTION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Modeling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</a:rPr>
              <a:t>Uses UML graphical notations to document a system from multiple perspectives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</a:rPr>
              <a:t>External: models system environment &amp; context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</a:rPr>
              <a:t>Interaction: shows component communication (Sequence Diagrams)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</a:rPr>
              <a:t>Structural: depicts static organization (Class Diagrams)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</a:rPr>
              <a:t>Behavioral: illustrates dynamic state changes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Design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92040" y="1536192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</a:rPr>
              <a:t>Translates models into a concrete architecture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</a:rPr>
              <a:t>High-Level Design (HLD): overall architecture, major modules &amp; services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</a:rPr>
              <a:t>Low-Level Design (LLD): detailed logic, algorithms, data structures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B3C"/>
                </a:solidFill>
              </a:rPr>
              <a:t>Key Pillars: scalability, reliability, availability, and performance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EAD70-6E15-5E60-8041-EF768FD848A9}"/>
              </a:ext>
            </a:extLst>
          </p:cNvPr>
          <p:cNvSpPr txBox="1"/>
          <p:nvPr/>
        </p:nvSpPr>
        <p:spPr>
          <a:xfrm>
            <a:off x="8533313" y="1709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2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II. CONTEXT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39D8AC-5479-3CD8-674F-39925071702F}"/>
              </a:ext>
            </a:extLst>
          </p:cNvPr>
          <p:cNvSpPr txBox="1"/>
          <p:nvPr/>
        </p:nvSpPr>
        <p:spPr>
          <a:xfrm>
            <a:off x="432707" y="963386"/>
            <a:ext cx="8311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The QoE Monitoring App acts as the central system that collects, processes, and exchanges network quality information with different entities.</a:t>
            </a:r>
            <a:endParaRPr lang="en-CM" dirty="0"/>
          </a:p>
        </p:txBody>
      </p:sp>
      <p:pic>
        <p:nvPicPr>
          <p:cNvPr id="25" name="diagram">
            <a:extLst>
              <a:ext uri="{FF2B5EF4-FFF2-40B4-BE49-F238E27FC236}">
                <a16:creationId xmlns:a16="http://schemas.microsoft.com/office/drawing/2014/main" id="{213D2054-60ED-68C5-D160-E0F55F42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96" y="1539648"/>
            <a:ext cx="8123464" cy="353991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FBFE28B-BF82-F10F-D41D-2361D6D5775B}"/>
              </a:ext>
            </a:extLst>
          </p:cNvPr>
          <p:cNvSpPr txBox="1"/>
          <p:nvPr/>
        </p:nvSpPr>
        <p:spPr>
          <a:xfrm>
            <a:off x="8533313" y="1709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3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III. DATA FLOW DIAGRAM — LEVEL 0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6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686B4D-57F9-EB96-F59C-851D18A396B5}"/>
              </a:ext>
            </a:extLst>
          </p:cNvPr>
          <p:cNvSpPr txBox="1"/>
          <p:nvPr/>
        </p:nvSpPr>
        <p:spPr>
          <a:xfrm>
            <a:off x="97971" y="1118507"/>
            <a:ext cx="24573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Data Flow Diagram (DFD) is a visual map that illustrates how information moves through a system or business process. It shows where data originates (inputs), how it is processed and transformed, where it is stored, and where it ultimately exits (outputs).</a:t>
            </a:r>
            <a:endParaRPr lang="en-CM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4F8FF1-F56F-EE25-505D-5B77C15FC94F}"/>
              </a:ext>
            </a:extLst>
          </p:cNvPr>
          <p:cNvSpPr txBox="1"/>
          <p:nvPr/>
        </p:nvSpPr>
        <p:spPr>
          <a:xfrm>
            <a:off x="8533313" y="1709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4</a:t>
            </a:r>
            <a:endParaRPr lang="en-CM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IMG_256">
            <a:extLst>
              <a:ext uri="{FF2B5EF4-FFF2-40B4-BE49-F238E27FC236}">
                <a16:creationId xmlns:a16="http://schemas.microsoft.com/office/drawing/2014/main" id="{F50DADD0-BD33-031B-613F-A37E984F4E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6"/>
          <a:stretch>
            <a:fillRect/>
          </a:stretch>
        </p:blipFill>
        <p:spPr>
          <a:xfrm>
            <a:off x="2426451" y="800967"/>
            <a:ext cx="6626109" cy="434253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FLOW DIAGRAM — LEVEL 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BC9105-F181-E191-C5F9-2A57FF1A3FEA}"/>
              </a:ext>
            </a:extLst>
          </p:cNvPr>
          <p:cNvSpPr txBox="1"/>
          <p:nvPr/>
        </p:nvSpPr>
        <p:spPr>
          <a:xfrm>
            <a:off x="8546375" y="9188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5</a:t>
            </a:r>
            <a:endParaRPr lang="en-CM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IMG_256">
            <a:extLst>
              <a:ext uri="{FF2B5EF4-FFF2-40B4-BE49-F238E27FC236}">
                <a16:creationId xmlns:a16="http://schemas.microsoft.com/office/drawing/2014/main" id="{AB439278-2A4D-709B-12CC-3C44248C51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447" r="25783"/>
          <a:stretch>
            <a:fillRect/>
          </a:stretch>
        </p:blipFill>
        <p:spPr>
          <a:xfrm>
            <a:off x="1155972" y="579604"/>
            <a:ext cx="6681742" cy="551859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3747C3-601C-B8D3-1E15-D4F0E147A73B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D935F-7446-EA32-EF3C-D6385888B36C}"/>
              </a:ext>
            </a:extLst>
          </p:cNvPr>
          <p:cNvSpPr txBox="1"/>
          <p:nvPr/>
        </p:nvSpPr>
        <p:spPr>
          <a:xfrm>
            <a:off x="285205" y="-7993"/>
            <a:ext cx="8484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FLOW DIAGRAM — LEVEL 2</a:t>
            </a:r>
            <a:endParaRPr lang="en-US" sz="3600" dirty="0"/>
          </a:p>
        </p:txBody>
      </p:sp>
      <p:pic>
        <p:nvPicPr>
          <p:cNvPr id="5" name="Picture 4" descr="IMG_256">
            <a:extLst>
              <a:ext uri="{FF2B5EF4-FFF2-40B4-BE49-F238E27FC236}">
                <a16:creationId xmlns:a16="http://schemas.microsoft.com/office/drawing/2014/main" id="{F6B6979D-0EAC-4576-3CCF-00F8C068D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53" y="727276"/>
            <a:ext cx="7543801" cy="44649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AED72D-83F5-413C-2D0C-EF5B793AFE15}"/>
              </a:ext>
            </a:extLst>
          </p:cNvPr>
          <p:cNvSpPr txBox="1"/>
          <p:nvPr/>
        </p:nvSpPr>
        <p:spPr>
          <a:xfrm>
            <a:off x="8546375" y="9188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6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99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IV. USE CASE DIAGRAM 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8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E3DD48-0C5C-3E47-1970-26259F328C51}"/>
              </a:ext>
            </a:extLst>
          </p:cNvPr>
          <p:cNvSpPr txBox="1"/>
          <p:nvPr/>
        </p:nvSpPr>
        <p:spPr>
          <a:xfrm>
            <a:off x="320040" y="892133"/>
            <a:ext cx="955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Actors</a:t>
            </a:r>
            <a:endParaRPr lang="en-CM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0C70DE-1EA7-D600-6628-D056CD965DBB}"/>
              </a:ext>
            </a:extLst>
          </p:cNvPr>
          <p:cNvSpPr txBox="1"/>
          <p:nvPr/>
        </p:nvSpPr>
        <p:spPr>
          <a:xfrm>
            <a:off x="254726" y="1456783"/>
            <a:ext cx="225171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Quattrocento Sans" panose="020B0502050000020003" pitchFamily="34" charset="0"/>
              </a:rPr>
              <a:t>In a use case diagram, actors represent the external roles that interact with a system. They define who or what is using the system, establishing clear boundaries between what is inside the software and its environment. </a:t>
            </a:r>
          </a:p>
          <a:p>
            <a:pPr algn="ctr"/>
            <a:endParaRPr lang="en-CM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AEE628-34D4-E13A-2254-28ACF29DFD5A}"/>
              </a:ext>
            </a:extLst>
          </p:cNvPr>
          <p:cNvSpPr txBox="1"/>
          <p:nvPr/>
        </p:nvSpPr>
        <p:spPr>
          <a:xfrm>
            <a:off x="3291841" y="892133"/>
            <a:ext cx="1412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Use Cases</a:t>
            </a:r>
            <a:endParaRPr lang="en-CM"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3D6BC8-3F79-7AC7-D2F8-7E6D163E4BF7}"/>
              </a:ext>
            </a:extLst>
          </p:cNvPr>
          <p:cNvSpPr txBox="1"/>
          <p:nvPr/>
        </p:nvSpPr>
        <p:spPr>
          <a:xfrm>
            <a:off x="3046912" y="1458753"/>
            <a:ext cx="21619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Quattrocento Sans" panose="020B0502050000020003" pitchFamily="34" charset="0"/>
              </a:rPr>
              <a:t>A use case is a written or visual scenario describing how a user interacts with a product or system to achieve a specific goal.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2B917C-5101-AAC7-4A89-92A345C16CC0}"/>
              </a:ext>
            </a:extLst>
          </p:cNvPr>
          <p:cNvSpPr txBox="1"/>
          <p:nvPr/>
        </p:nvSpPr>
        <p:spPr>
          <a:xfrm>
            <a:off x="6010547" y="887685"/>
            <a:ext cx="247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Use Case Diagram</a:t>
            </a:r>
            <a:endParaRPr lang="en-CM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2CC780-2710-711E-1E72-D1FD285B6501}"/>
              </a:ext>
            </a:extLst>
          </p:cNvPr>
          <p:cNvSpPr txBox="1"/>
          <p:nvPr/>
        </p:nvSpPr>
        <p:spPr>
          <a:xfrm>
            <a:off x="5819502" y="1458753"/>
            <a:ext cx="24737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Quattrocento Sans" panose="020B0502050000020003" pitchFamily="34" charset="0"/>
              </a:rPr>
              <a:t>A Use Case Diagram is a visual way to show how users (actors) interact with a system and what functions (use cases) the system provides. It helps understand the system’s behavior from the user’s perspective.</a:t>
            </a:r>
            <a:endParaRPr lang="en-CM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37B234-FE55-3F37-4137-553D75D8ABF5}"/>
              </a:ext>
            </a:extLst>
          </p:cNvPr>
          <p:cNvSpPr txBox="1"/>
          <p:nvPr/>
        </p:nvSpPr>
        <p:spPr>
          <a:xfrm>
            <a:off x="8533313" y="1709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7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CM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USE CASE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CF4EDC2-682B-87BD-015F-EA077F013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09" y="544966"/>
            <a:ext cx="6090648" cy="47066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B42121B-56CE-DDFB-18DF-23B83E4C27F6}"/>
              </a:ext>
            </a:extLst>
          </p:cNvPr>
          <p:cNvSpPr txBox="1"/>
          <p:nvPr/>
        </p:nvSpPr>
        <p:spPr>
          <a:xfrm>
            <a:off x="8533313" y="1709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8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V. SEQUENCE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E9A920-F580-D40E-0CBA-555517420483}"/>
              </a:ext>
            </a:extLst>
          </p:cNvPr>
          <p:cNvSpPr txBox="1"/>
          <p:nvPr/>
        </p:nvSpPr>
        <p:spPr>
          <a:xfrm>
            <a:off x="222341" y="776504"/>
            <a:ext cx="8416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u="none" strike="noStrike" dirty="0">
                <a:effectLst/>
                <a:latin typeface="Google Sans"/>
              </a:rPr>
              <a:t>sequence diagram</a:t>
            </a:r>
            <a:r>
              <a:rPr lang="en-US" dirty="0"/>
              <a:t> is a visual tool used in software engineering and system design to show how different parts of a system interact with each other to complete a task. </a:t>
            </a:r>
            <a:endParaRPr lang="en-CM" dirty="0"/>
          </a:p>
        </p:txBody>
      </p:sp>
      <p:pic>
        <p:nvPicPr>
          <p:cNvPr id="51" name="image2.png">
            <a:extLst>
              <a:ext uri="{FF2B5EF4-FFF2-40B4-BE49-F238E27FC236}">
                <a16:creationId xmlns:a16="http://schemas.microsoft.com/office/drawing/2014/main" id="{BB5E9193-5E99-B0C8-9CDF-052B09913D92}"/>
              </a:ext>
            </a:extLst>
          </p:cNvPr>
          <p:cNvPicPr/>
          <p:nvPr/>
        </p:nvPicPr>
        <p:blipFill>
          <a:blip r:embed="rId3"/>
          <a:srcRect b="8073"/>
          <a:stretch>
            <a:fillRect/>
          </a:stretch>
        </p:blipFill>
        <p:spPr>
          <a:xfrm>
            <a:off x="148045" y="1439926"/>
            <a:ext cx="8847909" cy="3703574"/>
          </a:xfrm>
          <a:prstGeom prst="rect">
            <a:avLst/>
          </a:prstGeom>
          <a:ln/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4CB34F7-732B-2C60-FCA7-F3CEFA487B55}"/>
              </a:ext>
            </a:extLst>
          </p:cNvPr>
          <p:cNvSpPr txBox="1"/>
          <p:nvPr/>
        </p:nvSpPr>
        <p:spPr>
          <a:xfrm>
            <a:off x="8533313" y="17091"/>
            <a:ext cx="513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9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VI. CLASS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057A65-BA61-8EE0-4B24-E7FCD8DF9198}"/>
              </a:ext>
            </a:extLst>
          </p:cNvPr>
          <p:cNvSpPr txBox="1"/>
          <p:nvPr/>
        </p:nvSpPr>
        <p:spPr>
          <a:xfrm>
            <a:off x="320040" y="839263"/>
            <a:ext cx="8503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Google Sans"/>
              </a:rPr>
              <a:t>A class diagram is a visual representation of an object-oriented system's structure. Widely used in software engineering, it maps out the system's classes, their data (attributes), behaviors (methods), and the connections between them to serve as a blueprint for coding.</a:t>
            </a:r>
            <a:endParaRPr lang="en-CM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0C27C-F42B-63E2-BB2B-75DB697B3A37}"/>
              </a:ext>
            </a:extLst>
          </p:cNvPr>
          <p:cNvSpPr txBox="1"/>
          <p:nvPr/>
        </p:nvSpPr>
        <p:spPr>
          <a:xfrm>
            <a:off x="1045029" y="2238103"/>
            <a:ext cx="172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Key Classes</a:t>
            </a:r>
            <a:endParaRPr lang="en-CM" sz="2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879F91-21F4-79DB-C243-8584822B58C9}"/>
              </a:ext>
            </a:extLst>
          </p:cNvPr>
          <p:cNvSpPr txBox="1"/>
          <p:nvPr/>
        </p:nvSpPr>
        <p:spPr>
          <a:xfrm>
            <a:off x="583474" y="2699657"/>
            <a:ext cx="30392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NetworkReading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MonitoringService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NetworkMetricCollector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LocationManager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AnomalyDetector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M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7F24D1-735F-5399-19D6-9AD29726736F}"/>
              </a:ext>
            </a:extLst>
          </p:cNvPr>
          <p:cNvSpPr txBox="1"/>
          <p:nvPr/>
        </p:nvSpPr>
        <p:spPr>
          <a:xfrm>
            <a:off x="5399314" y="2237992"/>
            <a:ext cx="2699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Key </a:t>
            </a:r>
            <a:r>
              <a:rPr lang="fr-FR" sz="2400" b="1" dirty="0" err="1"/>
              <a:t>Relationships</a:t>
            </a:r>
            <a:endParaRPr lang="en-CM" sz="2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5C1159-6B6B-C8CF-CE2B-A84152417325}"/>
              </a:ext>
            </a:extLst>
          </p:cNvPr>
          <p:cNvSpPr txBox="1"/>
          <p:nvPr/>
        </p:nvSpPr>
        <p:spPr>
          <a:xfrm>
            <a:off x="4500154" y="2699657"/>
            <a:ext cx="4565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Aggregation between MonitoringService and NetworkReading</a:t>
            </a:r>
            <a:endParaRPr lang="en-CM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Association between UserFeedback and NetworkReading</a:t>
            </a:r>
            <a:endParaRPr lang="en-CM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Dependency between NetworkMetricCollector and NetworkReading</a:t>
            </a:r>
            <a:endParaRPr lang="en-CM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M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8569EA-9E91-F81D-ECD4-226528AC09CF}"/>
              </a:ext>
            </a:extLst>
          </p:cNvPr>
          <p:cNvSpPr txBox="1"/>
          <p:nvPr/>
        </p:nvSpPr>
        <p:spPr>
          <a:xfrm>
            <a:off x="8281851" y="17091"/>
            <a:ext cx="765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10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CLASS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EBEFEA4-B68C-C83E-6FA6-619E9A777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2" y="579255"/>
            <a:ext cx="8857252" cy="463772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C73EF01-FBC7-0206-959F-4E0DD12CC9A2}"/>
              </a:ext>
            </a:extLst>
          </p:cNvPr>
          <p:cNvSpPr txBox="1"/>
          <p:nvPr/>
        </p:nvSpPr>
        <p:spPr>
          <a:xfrm>
            <a:off x="8533313" y="17091"/>
            <a:ext cx="852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11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VII. DEPLOYMENT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22" name="image1.png">
            <a:extLst>
              <a:ext uri="{FF2B5EF4-FFF2-40B4-BE49-F238E27FC236}">
                <a16:creationId xmlns:a16="http://schemas.microsoft.com/office/drawing/2014/main" id="{270EF269-E729-C8E5-B0EC-5AC06048EA66}"/>
              </a:ext>
            </a:extLst>
          </p:cNvPr>
          <p:cNvPicPr/>
          <p:nvPr/>
        </p:nvPicPr>
        <p:blipFill>
          <a:blip r:embed="rId3"/>
          <a:srcRect l="14440"/>
          <a:stretch>
            <a:fillRect/>
          </a:stretch>
        </p:blipFill>
        <p:spPr>
          <a:xfrm>
            <a:off x="2638696" y="705503"/>
            <a:ext cx="6505303" cy="4446488"/>
          </a:xfrm>
          <a:prstGeom prst="rect">
            <a:avLst/>
          </a:prstGeom>
          <a:ln/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FA5E82-7C96-86D3-C2C6-1D1CCB8B6C12}"/>
              </a:ext>
            </a:extLst>
          </p:cNvPr>
          <p:cNvSpPr txBox="1"/>
          <p:nvPr/>
        </p:nvSpPr>
        <p:spPr>
          <a:xfrm>
            <a:off x="187234" y="1052623"/>
            <a:ext cx="239050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Google Sans"/>
              </a:rPr>
              <a:t>A deployment diagram is a structural UML diagram that visualizes the physical hardware and software architecture of a system. It shows how software components and data (artifacts) are mapped onto physical or virtual infrastructure (nodes) and how they communicate.</a:t>
            </a:r>
            <a:endParaRPr lang="en-CM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643EA5-BBEC-BCB3-63F3-0BBBE2A4F22F}"/>
              </a:ext>
            </a:extLst>
          </p:cNvPr>
          <p:cNvSpPr txBox="1"/>
          <p:nvPr/>
        </p:nvSpPr>
        <p:spPr>
          <a:xfrm>
            <a:off x="8533313" y="17091"/>
            <a:ext cx="776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12</a:t>
            </a:r>
            <a:endParaRPr lang="en-CM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500" dirty="0"/>
              <a:t>CONCLUSION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64008" cy="6400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Robust Blueprint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332411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Translates high-level requirements into detailed DFDs, UML, and architecture diagrams ensuring scalable, fault-tolerant data pipelines.</a:t>
            </a:r>
          </a:p>
        </p:txBody>
      </p:sp>
      <p:sp>
        <p:nvSpPr>
          <p:cNvPr id="12" name="Shape 10"/>
          <p:cNvSpPr/>
          <p:nvPr/>
        </p:nvSpPr>
        <p:spPr>
          <a:xfrm>
            <a:off x="453934" y="2068395"/>
            <a:ext cx="64008" cy="6400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814" y="208668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Modular Architecture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6814" y="2427297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Each class has a single clear responsibility; composition, aggregation, and dependency relationships minimise coupling.</a:t>
            </a:r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3FFB52EC-C715-EA79-4A7A-5D88A59C94AB}"/>
              </a:ext>
            </a:extLst>
          </p:cNvPr>
          <p:cNvSpPr/>
          <p:nvPr/>
        </p:nvSpPr>
        <p:spPr>
          <a:xfrm>
            <a:off x="2698568" y="303951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20" name="Shape 26">
            <a:extLst>
              <a:ext uri="{FF2B5EF4-FFF2-40B4-BE49-F238E27FC236}">
                <a16:creationId xmlns:a16="http://schemas.microsoft.com/office/drawing/2014/main" id="{71A3FBB9-2C36-1D30-793F-FC599F1184DD}"/>
              </a:ext>
            </a:extLst>
          </p:cNvPr>
          <p:cNvSpPr/>
          <p:nvPr/>
        </p:nvSpPr>
        <p:spPr>
          <a:xfrm>
            <a:off x="2698568" y="3559411"/>
            <a:ext cx="3840480" cy="804672"/>
          </a:xfrm>
          <a:prstGeom prst="rect">
            <a:avLst/>
          </a:prstGeom>
          <a:solidFill>
            <a:srgbClr val="0D2D54">
              <a:alpha val="90000"/>
            </a:srgbClr>
          </a:solidFill>
          <a:ln w="7620">
            <a:solidFill>
              <a:srgbClr val="00BCD4"/>
            </a:solidFill>
            <a:prstDash val="solid"/>
          </a:ln>
        </p:spPr>
      </p:sp>
      <p:sp>
        <p:nvSpPr>
          <p:cNvPr id="21" name="Shape 27">
            <a:extLst>
              <a:ext uri="{FF2B5EF4-FFF2-40B4-BE49-F238E27FC236}">
                <a16:creationId xmlns:a16="http://schemas.microsoft.com/office/drawing/2014/main" id="{8C99DADB-0D5A-84AA-3886-99BB39AC9729}"/>
              </a:ext>
            </a:extLst>
          </p:cNvPr>
          <p:cNvSpPr/>
          <p:nvPr/>
        </p:nvSpPr>
        <p:spPr>
          <a:xfrm>
            <a:off x="2698568" y="3559411"/>
            <a:ext cx="658368" cy="804672"/>
          </a:xfrm>
          <a:prstGeom prst="rect">
            <a:avLst/>
          </a:prstGeom>
          <a:solidFill>
            <a:srgbClr val="0A2F4E"/>
          </a:solidFill>
          <a:ln w="7620">
            <a:solidFill>
              <a:srgbClr val="00BCD4"/>
            </a:solidFill>
            <a:prstDash val="solid"/>
          </a:ln>
        </p:spPr>
      </p:sp>
      <p:sp>
        <p:nvSpPr>
          <p:cNvPr id="22" name="Text 28">
            <a:extLst>
              <a:ext uri="{FF2B5EF4-FFF2-40B4-BE49-F238E27FC236}">
                <a16:creationId xmlns:a16="http://schemas.microsoft.com/office/drawing/2014/main" id="{73EAB0B8-F1BC-096A-F3B2-4AFEB2838B0C}"/>
              </a:ext>
            </a:extLst>
          </p:cNvPr>
          <p:cNvSpPr/>
          <p:nvPr/>
        </p:nvSpPr>
        <p:spPr>
          <a:xfrm>
            <a:off x="2698568" y="3559411"/>
            <a:ext cx="658368" cy="8046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 29">
            <a:extLst>
              <a:ext uri="{FF2B5EF4-FFF2-40B4-BE49-F238E27FC236}">
                <a16:creationId xmlns:a16="http://schemas.microsoft.com/office/drawing/2014/main" id="{3F879B17-A8F9-6CAA-3D71-9A20C7EFF2C4}"/>
              </a:ext>
            </a:extLst>
          </p:cNvPr>
          <p:cNvSpPr/>
          <p:nvPr/>
        </p:nvSpPr>
        <p:spPr>
          <a:xfrm>
            <a:off x="3430088" y="3797155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AND IMPLEMENTATION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 30">
            <a:extLst>
              <a:ext uri="{FF2B5EF4-FFF2-40B4-BE49-F238E27FC236}">
                <a16:creationId xmlns:a16="http://schemas.microsoft.com/office/drawing/2014/main" id="{2189D5D3-C54D-622D-D6C8-3A998D4D9BD9}"/>
              </a:ext>
            </a:extLst>
          </p:cNvPr>
          <p:cNvSpPr/>
          <p:nvPr/>
        </p:nvSpPr>
        <p:spPr>
          <a:xfrm>
            <a:off x="3430088" y="3925171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978964-854D-0B04-49EA-00C3C1360792}"/>
              </a:ext>
            </a:extLst>
          </p:cNvPr>
          <p:cNvSpPr txBox="1"/>
          <p:nvPr/>
        </p:nvSpPr>
        <p:spPr>
          <a:xfrm>
            <a:off x="8533313" y="17091"/>
            <a:ext cx="776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13</a:t>
            </a:r>
            <a:endParaRPr lang="en-CM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655</Words>
  <Application>Microsoft Office PowerPoint</Application>
  <PresentationFormat>On-screen Show (16:9)</PresentationFormat>
  <Paragraphs>103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Google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QoE Monitoring App - System Modelling and Design</dc:title>
  <dc:subject>PptxGenJS Presentation</dc:subject>
  <dc:creator>Willyherman</dc:creator>
  <cp:lastModifiedBy>HP</cp:lastModifiedBy>
  <cp:revision>8</cp:revision>
  <dcterms:created xsi:type="dcterms:W3CDTF">2026-05-26T08:57:42Z</dcterms:created>
  <dcterms:modified xsi:type="dcterms:W3CDTF">2026-06-02T15:19:18Z</dcterms:modified>
</cp:coreProperties>
</file>