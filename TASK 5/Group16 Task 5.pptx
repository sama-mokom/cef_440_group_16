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3" r:id="rId9"/>
    <p:sldId id="267" r:id="rId10"/>
    <p:sldId id="264" r:id="rId11"/>
    <p:sldId id="265" r:id="rId12"/>
  </p:sldIdLst>
  <p:sldSz cx="9144000" cy="5143500" type="screen16x9"/>
  <p:notesSz cx="5143500" cy="9144000"/>
  <p:embeddedFontLst>
    <p:embeddedFont>
      <p:font typeface="Arimo" panose="020B0604020202020204" charset="0"/>
      <p:regular r:id="rId14"/>
    </p:embeddedFont>
    <p:embeddedFont>
      <p:font typeface="Syn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-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47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230" y="1237395"/>
            <a:ext cx="604838" cy="6048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74727" y="431931"/>
            <a:ext cx="4667845" cy="886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CEF440 · INTERNET &amp; MOBILE PROGRAMMING  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GROUP 16</a:t>
            </a:r>
            <a:endParaRPr lang="en-US" sz="2000" b="1" dirty="0"/>
          </a:p>
        </p:txBody>
      </p:sp>
      <p:sp>
        <p:nvSpPr>
          <p:cNvPr id="6" name="Text 2"/>
          <p:cNvSpPr/>
          <p:nvPr/>
        </p:nvSpPr>
        <p:spPr>
          <a:xfrm>
            <a:off x="542689" y="2123815"/>
            <a:ext cx="8478847" cy="1092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NetInsight: UI Design &amp; Implementation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560442" y="3255369"/>
            <a:ext cx="5885387" cy="1533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2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Task 5 </a:t>
            </a:r>
          </a:p>
          <a:p>
            <a:pPr marL="0" indent="0" algn="ctr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20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Submitted to:</a:t>
            </a:r>
            <a:r>
              <a:rPr lang="en-US" sz="2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Dr. Nkemeni Valery · </a:t>
            </a:r>
            <a:r>
              <a:rPr lang="en-US" sz="20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2025/2026</a:t>
            </a:r>
            <a:endParaRPr lang="en-US" sz="2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521CA6-A4A5-AC9D-958C-E2F57D40A743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81223"/>
            <a:ext cx="3427437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52226" y="1008508"/>
            <a:ext cx="3427436" cy="390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NetInsight is a mobile application for real-time </a:t>
            </a: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Quality of Experience (QoE)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data collection from mobile network subscribers. It runs continuously in the background, periodically prompting users for subjective feedback while passively capturing objective network and device performance metrics.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UI mediates all direct interactions between subscriber and data collection engine — a well-designed interface ensures sustained engagement, high data quality, and reliable longitudinal datasets.</a:t>
            </a:r>
            <a:endParaRPr lang="en-US" sz="14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DF7BE67-301F-CE7D-8B4F-F9C52938D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A115B3E4-702C-68DE-D179-9321714FB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806" y="1197769"/>
            <a:ext cx="2719387" cy="2747962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21CA6F8-713C-31E2-3F67-0C58BC23BE44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01</a:t>
            </a:r>
            <a:endParaRPr lang="en-CM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806" y="1197769"/>
            <a:ext cx="2719387" cy="27479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5127" y="372815"/>
            <a:ext cx="5093930" cy="102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NetInsight — Name, Concept &amp; Mission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490910" y="1742108"/>
            <a:ext cx="2300808" cy="1869728"/>
          </a:xfrm>
          <a:prstGeom prst="roundRect">
            <a:avLst>
              <a:gd name="adj" fmla="val 1125"/>
            </a:avLst>
          </a:prstGeom>
          <a:solidFill>
            <a:srgbClr val="8061FF"/>
          </a:solidFill>
          <a:ln/>
        </p:spPr>
      </p:sp>
      <p:sp>
        <p:nvSpPr>
          <p:cNvPr id="8" name="Text 4"/>
          <p:cNvSpPr/>
          <p:nvPr/>
        </p:nvSpPr>
        <p:spPr>
          <a:xfrm>
            <a:off x="631106" y="1882304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Name &amp; Concept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1106" y="2167458"/>
            <a:ext cx="2020416" cy="130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NetInsight</a:t>
            </a: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= "Network" + "Insight" — converging objective telemetry with subjective QoE, shifting focus to human-centric connectivity in developing regions.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923208" y="1742108"/>
            <a:ext cx="2300883" cy="1869728"/>
          </a:xfrm>
          <a:prstGeom prst="roundRect">
            <a:avLst>
              <a:gd name="adj" fmla="val 1125"/>
            </a:avLst>
          </a:prstGeom>
          <a:solidFill>
            <a:srgbClr val="8061FF"/>
          </a:solidFill>
          <a:ln/>
        </p:spPr>
      </p:sp>
      <p:sp>
        <p:nvSpPr>
          <p:cNvPr id="11" name="Text 7"/>
          <p:cNvSpPr/>
          <p:nvPr/>
        </p:nvSpPr>
        <p:spPr>
          <a:xfrm>
            <a:off x="3063404" y="1882304"/>
            <a:ext cx="1695524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Mission Statement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063404" y="2167458"/>
            <a:ext cx="2020491" cy="1086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"Empowering mobile subscribers to share their real network experience automatically, honestly, and effortlessly."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90910" y="3743325"/>
            <a:ext cx="4733181" cy="1000274"/>
          </a:xfrm>
          <a:prstGeom prst="roundRect">
            <a:avLst>
              <a:gd name="adj" fmla="val 2103"/>
            </a:avLst>
          </a:prstGeom>
          <a:solidFill>
            <a:srgbClr val="8061FF"/>
          </a:solidFill>
          <a:ln/>
        </p:spPr>
      </p:sp>
      <p:sp>
        <p:nvSpPr>
          <p:cNvPr id="14" name="Text 10"/>
          <p:cNvSpPr/>
          <p:nvPr/>
        </p:nvSpPr>
        <p:spPr>
          <a:xfrm>
            <a:off x="631106" y="3883521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Logo Symbolism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1106" y="4168676"/>
            <a:ext cx="4452789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Outer eye ring = visibility &amp; real-time oversight. Signal waves = mobile telemetry. Teal accent (#00D2C4) = modern, high-performance tech.</a:t>
            </a:r>
            <a:endParaRPr lang="en-US" sz="11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9C74AA-F095-47D1-DE6E-1036D9FFC9A3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02</a:t>
            </a:r>
            <a:endParaRPr lang="en-CM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2853" y="297545"/>
            <a:ext cx="638941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Brand Colour Palette &amp; Typography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8167" y="1382613"/>
            <a:ext cx="3954140" cy="3225701"/>
          </a:xfrm>
          <a:prstGeom prst="roundRect">
            <a:avLst>
              <a:gd name="adj" fmla="val 609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3899" y="1460822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Token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76884" y="1460822"/>
            <a:ext cx="1373981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Colour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60216" y="1460822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3899" y="1808783"/>
            <a:ext cx="111643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Primary Background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76884" y="1808783"/>
            <a:ext cx="916781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Dark Sapphire Blue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60216" y="1808783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#173F7A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3899" y="2353047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Card / Widget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76884" y="2353047"/>
            <a:ext cx="1373981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Cobalt Blue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60216" y="2353047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#1B4A8F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3899" y="2701007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Teal Accent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76884" y="2701007"/>
            <a:ext cx="916781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Robin's Egg Blue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60216" y="2701007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#00D2C4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3899" y="3245272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Muted Typography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76884" y="3245272"/>
            <a:ext cx="1373981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Ice Blue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60216" y="3245272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#A0B2CE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3899" y="3593232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Static Light Gray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76884" y="3593232"/>
            <a:ext cx="1373981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Alice Blue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60216" y="3593232"/>
            <a:ext cx="15736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#E0E6ED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3899" y="3941192"/>
            <a:ext cx="111643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Coverage Indicators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76884" y="3941192"/>
            <a:ext cx="916781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Green / Yellow / 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60216" y="3941192"/>
            <a:ext cx="1116434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#2ECC71 / #F1C40F / #E74C3C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6455" y="1212910"/>
            <a:ext cx="214186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Typography System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36455" y="1675358"/>
            <a:ext cx="3954140" cy="1907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Headers: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Bold, 22–24px — anchored uniformly across modal and static screens.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Subheadings &amp; Metrics: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Readable 12–14px scale.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Layout Geometry: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Card-based architecture with border-radii of 10–14px for a modern feel and reduced visual fatigue.</a:t>
            </a:r>
            <a:endParaRPr lang="en-US" sz="16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A33675D-E872-B207-E3C6-A83643DB5CD7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03</a:t>
            </a:r>
            <a:endParaRPr lang="en-CM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83157" y="350824"/>
            <a:ext cx="5016103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UI Screen Flow — 7 Screens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8167" y="1137270"/>
            <a:ext cx="8684865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journey optimised to secure explicit permissions before data logging begins.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8167" y="1560537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8167" y="1768673"/>
            <a:ext cx="4056534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8" name="Text 6"/>
          <p:cNvSpPr/>
          <p:nvPr/>
        </p:nvSpPr>
        <p:spPr>
          <a:xfrm>
            <a:off x="458167" y="1862658"/>
            <a:ext cx="1671638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Language Selection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8167" y="2123852"/>
            <a:ext cx="40565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Bilingual gateway — English / French with teal accent border.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9224" y="1560537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9224" y="1768673"/>
            <a:ext cx="4056608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29224" y="1862658"/>
            <a:ext cx="175520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Privacy &amp; Permission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9224" y="2123852"/>
            <a:ext cx="4056608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Three checkboxes: Privacy Terms, Background Location, Anonymous Telemetry.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8167" y="2729136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167" y="2937272"/>
            <a:ext cx="4056534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8167" y="303125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8167" y="3292450"/>
            <a:ext cx="4056534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2×2 matrix: Download Speed, Upload Speed, Network Type, Latency.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9224" y="2729136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9224" y="2937272"/>
            <a:ext cx="4056608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29224" y="3031257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Map Coverage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29224" y="3292450"/>
            <a:ext cx="405660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colour-coded cellular coverage nodes over geographical map.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8167" y="3701430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8167" y="3909566"/>
            <a:ext cx="4056534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8167" y="4003551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Network History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8167" y="4264744"/>
            <a:ext cx="4056534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Timeline with "Today / Week / Month" filters for operator telemetry logs.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29224" y="3701430"/>
            <a:ext cx="261789" cy="163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9224" y="3909566"/>
            <a:ext cx="4056608" cy="14288"/>
          </a:xfrm>
          <a:prstGeom prst="rect">
            <a:avLst/>
          </a:prstGeom>
          <a:solidFill>
            <a:srgbClr val="8061FF"/>
          </a:solidFill>
          <a:ln/>
        </p:spPr>
      </p:sp>
      <p:sp>
        <p:nvSpPr>
          <p:cNvPr id="28" name="Text 26"/>
          <p:cNvSpPr/>
          <p:nvPr/>
        </p:nvSpPr>
        <p:spPr>
          <a:xfrm>
            <a:off x="4629224" y="4003551"/>
            <a:ext cx="15400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Settings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29224" y="4264744"/>
            <a:ext cx="4056608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Runtime flags, prompt intervals (e.g., Every 4 Hours).</a:t>
            </a:r>
            <a:endParaRPr lang="en-US" sz="10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CD801C8-B9EE-5C7E-FBD7-E67BAF552BC9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04</a:t>
            </a:r>
            <a:endParaRPr lang="en-CM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953" y="213456"/>
            <a:ext cx="5751091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Language and Permission Screens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52" y="907333"/>
            <a:ext cx="1927547" cy="41421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8C43C0-4858-167A-5695-B6D62F004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324" y="907332"/>
            <a:ext cx="1896256" cy="414212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C6364CD7-4010-97DA-36D8-3CDD8216F3E6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05</a:t>
            </a:r>
            <a:endParaRPr lang="en-CM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B13748B9-FAD2-8607-7889-9FCA9AB8A225}"/>
              </a:ext>
            </a:extLst>
          </p:cNvPr>
          <p:cNvSpPr/>
          <p:nvPr/>
        </p:nvSpPr>
        <p:spPr>
          <a:xfrm>
            <a:off x="548953" y="213456"/>
            <a:ext cx="5751091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 Screen</a:t>
            </a:r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7A271D-B03C-747F-5721-AF90997CD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410" y="661366"/>
            <a:ext cx="1951582" cy="43350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73420" y="1125462"/>
            <a:ext cx="2619598" cy="3187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Network Status Card: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5G/4G/3G/2G, signal bars, operator, colour-coded badge</a:t>
            </a:r>
            <a:endParaRPr lang="en-US" sz="14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Metric Tile Grid (2×3):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Signal Strength, Latency, Jitter, Packet Loss, Download Speed, Battery/CPU</a:t>
            </a:r>
            <a:endParaRPr lang="en-US" sz="14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QoE Score Panel: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Latest satisfaction score with 7-session sparkline</a:t>
            </a:r>
            <a:endParaRPr lang="en-US" sz="1400" dirty="0"/>
          </a:p>
          <a:p>
            <a:pPr marL="342900" indent="-342900" algn="l">
              <a:lnSpc>
                <a:spcPct val="122000"/>
              </a:lnSpc>
              <a:buSzPct val="100000"/>
              <a:buChar char="•"/>
            </a:pPr>
            <a:r>
              <a:rPr lang="en-US" sz="1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Background Indicator:</a:t>
            </a: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Pulsing dot confirming active monitoring</a:t>
            </a:r>
            <a:endParaRPr lang="en-US" sz="1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02450C-B24D-C602-12C9-1BE248E10E5D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06</a:t>
            </a:r>
            <a:endParaRPr lang="en-CM" sz="2800" dirty="0"/>
          </a:p>
        </p:txBody>
      </p:sp>
    </p:spTree>
    <p:extLst>
      <p:ext uri="{BB962C8B-B14F-4D97-AF65-F5344CB8AC3E}">
        <p14:creationId xmlns:p14="http://schemas.microsoft.com/office/powerpoint/2010/main" val="239164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10841" y="427509"/>
            <a:ext cx="663833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Map Coverage Screen</a:t>
            </a:r>
            <a:endParaRPr lang="en-US" sz="3600" dirty="0"/>
          </a:p>
        </p:txBody>
      </p:sp>
      <p:sp>
        <p:nvSpPr>
          <p:cNvPr id="13" name="Text 8"/>
          <p:cNvSpPr/>
          <p:nvPr/>
        </p:nvSpPr>
        <p:spPr>
          <a:xfrm>
            <a:off x="5556286" y="1274723"/>
            <a:ext cx="2574280" cy="2203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Google Maps SDK with custom heatmap overlay. Red → Amber → Green gradients for signal/QoE. Toggle Signal Strength or QoE Score mode.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11C9DD-5484-8A14-6890-CF49FE264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256" y="1029927"/>
            <a:ext cx="1858800" cy="4113574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DCB6029-E53E-3E51-7417-A48D29D5941B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07</a:t>
            </a:r>
            <a:endParaRPr lang="en-CM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FDE906EC-2114-6570-0585-DC45B0B48DB7}"/>
              </a:ext>
            </a:extLst>
          </p:cNvPr>
          <p:cNvSpPr/>
          <p:nvPr/>
        </p:nvSpPr>
        <p:spPr>
          <a:xfrm>
            <a:off x="510841" y="207504"/>
            <a:ext cx="663833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yne Bold" pitchFamily="34" charset="0"/>
              </a:rPr>
              <a:t>History Screen</a:t>
            </a:r>
          </a:p>
        </p:txBody>
      </p:sp>
      <p:sp>
        <p:nvSpPr>
          <p:cNvPr id="10" name="Text 6"/>
          <p:cNvSpPr/>
          <p:nvPr/>
        </p:nvSpPr>
        <p:spPr>
          <a:xfrm>
            <a:off x="5768557" y="1339638"/>
            <a:ext cx="2574280" cy="211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Chronological session cards with date, network type, QoE score, and metric summary.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719CC8-C619-6B14-708B-D70E07308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130" y="1026641"/>
            <a:ext cx="1855470" cy="4102086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4DB30BA-6447-E53A-81C1-47175D464F9C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08</a:t>
            </a:r>
            <a:endParaRPr lang="en-CM" sz="2800" dirty="0"/>
          </a:p>
        </p:txBody>
      </p:sp>
    </p:spTree>
    <p:extLst>
      <p:ext uri="{BB962C8B-B14F-4D97-AF65-F5344CB8AC3E}">
        <p14:creationId xmlns:p14="http://schemas.microsoft.com/office/powerpoint/2010/main" val="620578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060" y="279838"/>
            <a:ext cx="4940498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React Native Implementation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334051" y="990718"/>
            <a:ext cx="1923752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React Native?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57950" y="1238780"/>
            <a:ext cx="1914004" cy="1332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Cross-platform: single codebase for Android &amp; iOS</a:t>
            </a:r>
            <a:endParaRPr lang="en-US" sz="110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Near-native performance via native components</a:t>
            </a:r>
            <a:endParaRPr lang="en-US" sz="110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Component-based, modular architecture</a:t>
            </a:r>
            <a:endParaRPr lang="en-US" sz="110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Hot reload for rapid iteration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334051" y="2731106"/>
            <a:ext cx="2500313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Implemented Features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57950" y="3062360"/>
            <a:ext cx="1947342" cy="1722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onboarding flow</a:t>
            </a:r>
            <a:endParaRPr lang="en-US" sz="100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Feedback input forms for QoE reporting</a:t>
            </a:r>
            <a:endParaRPr lang="en-US" sz="100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Network quality rating system</a:t>
            </a:r>
            <a:endParaRPr lang="en-US" sz="100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Multi-screen navigation (React Navigation)</a:t>
            </a:r>
            <a:endParaRPr lang="en-US" sz="1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37A483-C9E1-F382-901A-B4C3F08F3EE3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09</a:t>
            </a:r>
            <a:endParaRPr lang="en-CM" sz="2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5FA3B92-46EF-7ED3-4254-9D38232F3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4" y="822012"/>
            <a:ext cx="1906344" cy="40416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3A58D7F-337A-7BEA-4A25-B254563DB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107" y="822013"/>
            <a:ext cx="1954321" cy="4041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8A2DD6F-F680-33C8-02B9-A55E60014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451" y="906388"/>
            <a:ext cx="1914004" cy="41078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7B767B6-BB8D-2CBE-F9C5-F354DC669C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95238"/>
          <a:stretch>
            <a:fillRect/>
          </a:stretch>
        </p:blipFill>
        <p:spPr>
          <a:xfrm>
            <a:off x="415124" y="850238"/>
            <a:ext cx="1906344" cy="19661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074AB71-A6A3-7F58-9219-2C9F84EAE3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95238"/>
          <a:stretch>
            <a:fillRect/>
          </a:stretch>
        </p:blipFill>
        <p:spPr>
          <a:xfrm>
            <a:off x="2358828" y="865547"/>
            <a:ext cx="1906344" cy="19661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04C1EDE-AC3E-38DC-152E-110FA5CAD0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95238"/>
          <a:stretch>
            <a:fillRect/>
          </a:stretch>
        </p:blipFill>
        <p:spPr>
          <a:xfrm>
            <a:off x="4207929" y="948543"/>
            <a:ext cx="1906344" cy="1966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42685" y="355026"/>
            <a:ext cx="4229472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Tools Summary &amp; Conclusion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050" y="1001911"/>
            <a:ext cx="3141315" cy="31413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90388" y="1611559"/>
            <a:ext cx="16397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72157" y="2146879"/>
            <a:ext cx="3141315" cy="1719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UI design and implementation phase successfully translated conceptual designs into a functional mobile interface. </a:t>
            </a:r>
            <a:r>
              <a:rPr lang="en-US" sz="12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Figma</a:t>
            </a: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enabled structured, user-centred visual design; </a:t>
            </a:r>
            <a:r>
              <a:rPr lang="en-US" sz="12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React Native</a:t>
            </a: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delivered a responsive, scalable frontend.</a:t>
            </a:r>
            <a:endParaRPr lang="en-US" sz="120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combination ensured </a:t>
            </a:r>
            <a:r>
              <a:rPr lang="en-US" sz="1200" b="1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design-to-implementation consistency</a:t>
            </a:r>
            <a:r>
              <a:rPr lang="en-US" sz="12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06C587-0158-0057-C97A-49D594556E3E}"/>
              </a:ext>
            </a:extLst>
          </p:cNvPr>
          <p:cNvSpPr/>
          <p:nvPr/>
        </p:nvSpPr>
        <p:spPr>
          <a:xfrm>
            <a:off x="7912671" y="4785360"/>
            <a:ext cx="1231329" cy="35814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10</a:t>
            </a:r>
            <a:endParaRPr lang="en-CM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54F1F9-F442-E54A-DFA2-0A08CF8E4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088" y="940346"/>
            <a:ext cx="1499220" cy="1860003"/>
          </a:xfrm>
          <a:prstGeom prst="rect">
            <a:avLst/>
          </a:prstGeom>
        </p:spPr>
      </p:pic>
      <p:pic>
        <p:nvPicPr>
          <p:cNvPr id="13" name="Picture 12" descr="What is React Native and How does it work? | igmGuru">
            <a:extLst>
              <a:ext uri="{FF2B5EF4-FFF2-40B4-BE49-F238E27FC236}">
                <a16:creationId xmlns:a16="http://schemas.microsoft.com/office/drawing/2014/main" id="{579D88A9-2B9A-8A7F-94D3-48814F1173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534" r="25568"/>
          <a:stretch>
            <a:fillRect/>
          </a:stretch>
        </p:blipFill>
        <p:spPr>
          <a:xfrm>
            <a:off x="2878707" y="940346"/>
            <a:ext cx="1477289" cy="19005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7A5C23-FE57-78FF-8827-3352129A486C}"/>
              </a:ext>
            </a:extLst>
          </p:cNvPr>
          <p:cNvSpPr txBox="1"/>
          <p:nvPr/>
        </p:nvSpPr>
        <p:spPr>
          <a:xfrm>
            <a:off x="2138871" y="4032873"/>
            <a:ext cx="4620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WHAT NEXT: </a:t>
            </a:r>
          </a:p>
          <a:p>
            <a:pPr algn="ctr"/>
            <a:r>
              <a:rPr lang="en-CM" b="1" dirty="0">
                <a:solidFill>
                  <a:schemeClr val="bg1"/>
                </a:solidFill>
              </a:rPr>
              <a:t>Database </a:t>
            </a:r>
            <a:r>
              <a:rPr lang="fr-FR" b="1" dirty="0">
                <a:solidFill>
                  <a:schemeClr val="bg1"/>
                </a:solidFill>
              </a:rPr>
              <a:t>D</a:t>
            </a:r>
            <a:r>
              <a:rPr lang="en-CM" b="1" dirty="0" err="1">
                <a:solidFill>
                  <a:schemeClr val="bg1"/>
                </a:solidFill>
              </a:rPr>
              <a:t>esign</a:t>
            </a:r>
            <a:r>
              <a:rPr lang="en-CM" b="1" dirty="0">
                <a:solidFill>
                  <a:schemeClr val="bg1"/>
                </a:solidFill>
              </a:rPr>
              <a:t> and </a:t>
            </a:r>
            <a:r>
              <a:rPr lang="fr-FR" b="1" dirty="0">
                <a:solidFill>
                  <a:schemeClr val="bg1"/>
                </a:solidFill>
              </a:rPr>
              <a:t>I</a:t>
            </a:r>
            <a:r>
              <a:rPr lang="en-CM" b="1" dirty="0" err="1">
                <a:solidFill>
                  <a:schemeClr val="bg1"/>
                </a:solidFill>
              </a:rPr>
              <a:t>mplementation</a:t>
            </a:r>
            <a:endParaRPr lang="en-CM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626</Words>
  <Application>Microsoft Office PowerPoint</Application>
  <PresentationFormat>On-screen Show (16:9)</PresentationFormat>
  <Paragraphs>107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Syne Bold</vt:lpstr>
      <vt:lpstr>Syne Light</vt:lpstr>
      <vt:lpstr>Arimo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HP</cp:lastModifiedBy>
  <cp:revision>8</cp:revision>
  <dcterms:created xsi:type="dcterms:W3CDTF">2026-06-09T13:06:21Z</dcterms:created>
  <dcterms:modified xsi:type="dcterms:W3CDTF">2026-06-09T15:48:36Z</dcterms:modified>
</cp:coreProperties>
</file>